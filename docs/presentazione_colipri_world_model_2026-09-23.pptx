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notesMaster" Target="notesMasters/notesMaster1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Aprire</a:t>
            </a:r>
            <a:r>
              <a:rPr/>
              <a:t> </a:t>
            </a:r>
            <a:r>
              <a:rPr/>
              <a:t>subito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conclusione,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cronologia.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progetto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validato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premessa</a:t>
            </a:r>
            <a:r>
              <a:rPr/>
              <a:t> </a:t>
            </a:r>
            <a:r>
              <a:rPr/>
              <a:t>scientifica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informativo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ancora</a:t>
            </a:r>
            <a:r>
              <a:rPr/>
              <a:t> </a:t>
            </a:r>
            <a:r>
              <a:rPr/>
              <a:t>dimostrato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tale</a:t>
            </a:r>
            <a:r>
              <a:rPr/>
              <a:t> </a:t>
            </a:r>
            <a:r>
              <a:rPr/>
              <a:t>informazione</a:t>
            </a:r>
            <a:r>
              <a:rPr/>
              <a:t> </a:t>
            </a:r>
            <a:r>
              <a:rPr/>
              <a:t>sia</a:t>
            </a:r>
            <a:r>
              <a:rPr/>
              <a:t> </a:t>
            </a:r>
            <a:r>
              <a:rPr/>
              <a:t>prevedibile</a:t>
            </a:r>
            <a:r>
              <a:rPr/>
              <a:t> </a:t>
            </a:r>
            <a:r>
              <a:rPr/>
              <a:t>dal</a:t>
            </a:r>
            <a:r>
              <a:rPr/>
              <a:t> </a:t>
            </a:r>
            <a:r>
              <a:rPr/>
              <a:t>passato</a:t>
            </a:r>
            <a:r>
              <a:rPr/>
              <a:t> </a:t>
            </a:r>
            <a:r>
              <a:rPr/>
              <a:t>disponibile.</a:t>
            </a:r>
            <a:r>
              <a:rPr/>
              <a:t> </a:t>
            </a:r>
            <a:r>
              <a:rPr/>
              <a:t>Sottolineare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risultati</a:t>
            </a:r>
            <a:r>
              <a:rPr/>
              <a:t> </a:t>
            </a:r>
            <a:r>
              <a:rPr/>
              <a:t>negativi</a:t>
            </a:r>
            <a:r>
              <a:rPr/>
              <a:t> </a:t>
            </a:r>
            <a:r>
              <a:rPr/>
              <a:t>hanno</a:t>
            </a:r>
            <a:r>
              <a:rPr/>
              <a:t> </a:t>
            </a:r>
            <a:r>
              <a:rPr/>
              <a:t>eliminato</a:t>
            </a:r>
            <a:r>
              <a:rPr/>
              <a:t> </a:t>
            </a:r>
            <a:r>
              <a:rPr/>
              <a:t>diverse</a:t>
            </a:r>
            <a:r>
              <a:rPr/>
              <a:t> </a:t>
            </a:r>
            <a:r>
              <a:rPr/>
              <a:t>spiegazioni</a:t>
            </a:r>
            <a:r>
              <a:rPr/>
              <a:t> </a:t>
            </a:r>
            <a:r>
              <a:rPr/>
              <a:t>semplici.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mappa</a:t>
            </a:r>
            <a:r>
              <a:rPr/>
              <a:t> </a:t>
            </a:r>
            <a:r>
              <a:rPr/>
              <a:t>della</a:t>
            </a:r>
            <a:r>
              <a:rPr/>
              <a:t> </a:t>
            </a:r>
            <a:r>
              <a:rPr/>
              <a:t>presentazione.</a:t>
            </a:r>
            <a:r>
              <a:rPr/>
              <a:t> </a:t>
            </a:r>
            <a:r>
              <a:rPr/>
              <a:t>Evidenziare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ogni</a:t>
            </a:r>
            <a:r>
              <a:rPr/>
              <a:t> </a:t>
            </a:r>
            <a:r>
              <a:rPr/>
              <a:t>fase</a:t>
            </a:r>
            <a:r>
              <a:rPr/>
              <a:t> </a:t>
            </a:r>
            <a:r>
              <a:rPr/>
              <a:t>risponde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domanda</a:t>
            </a:r>
            <a:r>
              <a:rPr/>
              <a:t> </a:t>
            </a:r>
            <a:r>
              <a:rPr/>
              <a:t>diversa:</a:t>
            </a:r>
            <a:r>
              <a:rPr/>
              <a:t> </a:t>
            </a:r>
            <a:r>
              <a:rPr/>
              <a:t>prima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rappresentazione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buona,</a:t>
            </a:r>
            <a:r>
              <a:rPr/>
              <a:t> </a:t>
            </a:r>
            <a:r>
              <a:rPr/>
              <a:t>poi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aggiunge</a:t>
            </a:r>
            <a:r>
              <a:rPr/>
              <a:t> </a:t>
            </a:r>
            <a:r>
              <a:rPr/>
              <a:t>informazione,</a:t>
            </a:r>
            <a:r>
              <a:rPr/>
              <a:t> </a:t>
            </a:r>
            <a:r>
              <a:rPr/>
              <a:t>infine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informazione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prevedibile.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Distinguere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quattro</a:t>
            </a:r>
            <a:r>
              <a:rPr/>
              <a:t> </a:t>
            </a:r>
            <a:r>
              <a:rPr/>
              <a:t>livelli:</a:t>
            </a:r>
            <a:r>
              <a:rPr/>
              <a:t> </a:t>
            </a:r>
            <a:r>
              <a:rPr/>
              <a:t>1.000</a:t>
            </a:r>
            <a:r>
              <a:rPr/>
              <a:t> </a:t>
            </a:r>
            <a:r>
              <a:rPr/>
              <a:t>pazienti</a:t>
            </a:r>
            <a:r>
              <a:rPr/>
              <a:t> </a:t>
            </a:r>
            <a:r>
              <a:rPr/>
              <a:t>nominali;</a:t>
            </a:r>
            <a:r>
              <a:rPr/>
              <a:t> </a:t>
            </a:r>
            <a:r>
              <a:rPr/>
              <a:t>999/2.984</a:t>
            </a:r>
            <a:r>
              <a:rPr/>
              <a:t> </a:t>
            </a:r>
            <a:r>
              <a:rPr/>
              <a:t>scansioni</a:t>
            </a:r>
            <a:r>
              <a:rPr/>
              <a:t> </a:t>
            </a:r>
            <a:r>
              <a:rPr/>
              <a:t>realmente</a:t>
            </a:r>
            <a:r>
              <a:rPr/>
              <a:t> </a:t>
            </a:r>
            <a:r>
              <a:rPr/>
              <a:t>analizzate;</a:t>
            </a:r>
            <a:r>
              <a:rPr/>
              <a:t> </a:t>
            </a:r>
            <a:r>
              <a:rPr/>
              <a:t>998/1.984</a:t>
            </a:r>
            <a:r>
              <a:rPr/>
              <a:t> </a:t>
            </a:r>
            <a:r>
              <a:rPr/>
              <a:t>coppie</a:t>
            </a:r>
            <a:r>
              <a:rPr/>
              <a:t> </a:t>
            </a:r>
            <a:r>
              <a:rPr/>
              <a:t>utilizzabili;</a:t>
            </a:r>
            <a:r>
              <a:rPr/>
              <a:t> </a:t>
            </a:r>
            <a:r>
              <a:rPr/>
              <a:t>986</a:t>
            </a:r>
            <a:r>
              <a:rPr/>
              <a:t> </a:t>
            </a:r>
            <a:r>
              <a:rPr/>
              <a:t>triplette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gli</a:t>
            </a:r>
            <a:r>
              <a:rPr/>
              <a:t> </a:t>
            </a:r>
            <a:r>
              <a:rPr/>
              <a:t>esperimenti</a:t>
            </a:r>
            <a:r>
              <a:rPr/>
              <a:t> </a:t>
            </a:r>
            <a:r>
              <a:rPr/>
              <a:t>T0–T1–T2.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paziente</a:t>
            </a:r>
            <a:r>
              <a:rPr/>
              <a:t> </a:t>
            </a:r>
            <a:r>
              <a:rPr/>
              <a:t>può</a:t>
            </a:r>
            <a:r>
              <a:rPr/>
              <a:t> </a:t>
            </a:r>
            <a:r>
              <a:rPr/>
              <a:t>contribuire</a:t>
            </a:r>
            <a:r>
              <a:rPr/>
              <a:t> </a:t>
            </a:r>
            <a:r>
              <a:rPr/>
              <a:t>due</a:t>
            </a:r>
            <a:r>
              <a:rPr/>
              <a:t> </a:t>
            </a:r>
            <a:r>
              <a:rPr/>
              <a:t>coppie,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rimane</a:t>
            </a:r>
            <a:r>
              <a:rPr/>
              <a:t> </a:t>
            </a:r>
            <a:r>
              <a:rPr/>
              <a:t>sempre</a:t>
            </a:r>
            <a:r>
              <a:rPr/>
              <a:t> </a:t>
            </a:r>
            <a:r>
              <a:rPr/>
              <a:t>nello</a:t>
            </a:r>
            <a:r>
              <a:rPr/>
              <a:t> </a:t>
            </a:r>
            <a:r>
              <a:rPr/>
              <a:t>stesso</a:t>
            </a:r>
            <a:r>
              <a:rPr/>
              <a:t> </a:t>
            </a:r>
            <a:r>
              <a:rPr/>
              <a:t>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Specificare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separazione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paziente</a:t>
            </a:r>
            <a:r>
              <a:rPr/>
              <a:t> </a:t>
            </a:r>
            <a:r>
              <a:rPr/>
              <a:t>impedisce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T0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soggetto</a:t>
            </a:r>
            <a:r>
              <a:rPr/>
              <a:t> </a:t>
            </a:r>
            <a:r>
              <a:rPr/>
              <a:t>finisca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train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T1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test.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punto</a:t>
            </a:r>
            <a:r>
              <a:rPr/>
              <a:t> </a:t>
            </a:r>
            <a:r>
              <a:rPr/>
              <a:t>sul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già</a:t>
            </a:r>
            <a:r>
              <a:rPr/>
              <a:t> </a:t>
            </a:r>
            <a:r>
              <a:rPr/>
              <a:t>osservato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importante: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confronti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solidi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analisi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sviluppo,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supportano</a:t>
            </a:r>
            <a:r>
              <a:rPr/>
              <a:t> </a:t>
            </a:r>
            <a:r>
              <a:rPr/>
              <a:t>ancora</a:t>
            </a:r>
            <a:r>
              <a:rPr/>
              <a:t> </a:t>
            </a:r>
            <a:r>
              <a:rPr/>
              <a:t>claim</a:t>
            </a:r>
            <a:r>
              <a:rPr/>
              <a:t> </a:t>
            </a:r>
            <a:r>
              <a:rPr/>
              <a:t>clinici.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label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segmentazioni</a:t>
            </a:r>
            <a:r>
              <a:rPr/>
              <a:t> </a:t>
            </a:r>
            <a:r>
              <a:rPr/>
              <a:t>voxel-level: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etichette</a:t>
            </a:r>
            <a:r>
              <a:rPr/>
              <a:t> </a:t>
            </a:r>
            <a:r>
              <a:rPr/>
              <a:t>cliniche/read-level.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misurano</a:t>
            </a:r>
            <a:r>
              <a:rPr/>
              <a:t> </a:t>
            </a:r>
            <a:r>
              <a:rPr/>
              <a:t>decodificabilità</a:t>
            </a:r>
            <a:r>
              <a:rPr/>
              <a:t> </a:t>
            </a:r>
            <a:r>
              <a:rPr/>
              <a:t>dello</a:t>
            </a:r>
            <a:r>
              <a:rPr/>
              <a:t> </a:t>
            </a:r>
            <a:r>
              <a:rPr/>
              <a:t>stato</a:t>
            </a:r>
            <a:r>
              <a:rPr/>
              <a:t> </a:t>
            </a:r>
            <a:r>
              <a:rPr/>
              <a:t>globale,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localizzazione.</a:t>
            </a:r>
            <a:r>
              <a:rPr/>
              <a:t> </a:t>
            </a:r>
            <a:r>
              <a:rPr/>
              <a:t>Ricordare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confronto</a:t>
            </a:r>
            <a:r>
              <a:rPr/>
              <a:t> </a:t>
            </a:r>
            <a:r>
              <a:rPr/>
              <a:t>stretto</a:t>
            </a:r>
            <a:r>
              <a:rPr/>
              <a:t> </a:t>
            </a:r>
            <a:r>
              <a:rPr/>
              <a:t>t+1</a:t>
            </a:r>
            <a:r>
              <a:rPr/>
              <a:t> </a:t>
            </a:r>
            <a:r>
              <a:rPr/>
              <a:t>evita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favorire</a:t>
            </a:r>
            <a:r>
              <a:rPr/>
              <a:t> </a:t>
            </a:r>
            <a:r>
              <a:rPr/>
              <a:t>lo</a:t>
            </a:r>
            <a:r>
              <a:rPr/>
              <a:t> </a:t>
            </a:r>
            <a:r>
              <a:rPr/>
              <a:t>stato</a:t>
            </a:r>
            <a:r>
              <a:rPr/>
              <a:t> </a:t>
            </a:r>
            <a:r>
              <a:rPr/>
              <a:t>corrente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sua</a:t>
            </a:r>
            <a:r>
              <a:rPr/>
              <a:t> </a:t>
            </a:r>
            <a:r>
              <a:rPr/>
              <a:t>label</a:t>
            </a:r>
            <a:r>
              <a:rPr/>
              <a:t> </a:t>
            </a:r>
            <a:r>
              <a:rPr/>
              <a:t>contemporanea.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Spiegare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regola: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diagnosi</a:t>
            </a:r>
            <a:r>
              <a:rPr/>
              <a:t> </a:t>
            </a:r>
            <a:r>
              <a:rPr/>
              <a:t>cade</a:t>
            </a:r>
            <a:r>
              <a:rPr/>
              <a:t> </a:t>
            </a:r>
            <a:r>
              <a:rPr/>
              <a:t>entro</a:t>
            </a:r>
            <a:r>
              <a:rPr/>
              <a:t> </a:t>
            </a:r>
            <a:r>
              <a:rPr/>
              <a:t>365/730/1.095</a:t>
            </a:r>
            <a:r>
              <a:rPr/>
              <a:t> </a:t>
            </a:r>
            <a:r>
              <a:rPr/>
              <a:t>giorni;</a:t>
            </a:r>
            <a:r>
              <a:rPr/>
              <a:t> </a:t>
            </a:r>
            <a:r>
              <a:rPr/>
              <a:t>0</a:t>
            </a:r>
            <a:r>
              <a:rPr/>
              <a:t> </a:t>
            </a:r>
            <a:r>
              <a:rPr/>
              <a:t>solo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osserviamo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evento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tardi</a:t>
            </a:r>
            <a:r>
              <a:rPr/>
              <a:t> </a:t>
            </a:r>
            <a:r>
              <a:rPr/>
              <a:t>o</a:t>
            </a:r>
            <a:r>
              <a:rPr/>
              <a:t> </a:t>
            </a:r>
            <a:r>
              <a:rPr/>
              <a:t>follow-up</a:t>
            </a:r>
            <a:r>
              <a:rPr/>
              <a:t> </a:t>
            </a:r>
            <a:r>
              <a:rPr/>
              <a:t>cancer-free</a:t>
            </a:r>
            <a:r>
              <a:rPr/>
              <a:t> </a:t>
            </a:r>
            <a:r>
              <a:rPr/>
              <a:t>sufficiente;</a:t>
            </a:r>
            <a:r>
              <a:rPr/>
              <a:t> </a:t>
            </a:r>
            <a:r>
              <a:rPr/>
              <a:t>NA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follow-up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copre</a:t>
            </a:r>
            <a:r>
              <a:rPr/>
              <a:t> </a:t>
            </a:r>
            <a:r>
              <a:rPr/>
              <a:t>l’orizzonte.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diagnosi</a:t>
            </a:r>
            <a:r>
              <a:rPr/>
              <a:t> </a:t>
            </a:r>
            <a:r>
              <a:rPr/>
              <a:t>già</a:t>
            </a:r>
            <a:r>
              <a:rPr/>
              <a:t> </a:t>
            </a:r>
            <a:r>
              <a:rPr/>
              <a:t>avvenute</a:t>
            </a:r>
            <a:r>
              <a:rPr/>
              <a:t> </a:t>
            </a:r>
            <a:r>
              <a:rPr/>
              <a:t>al</a:t>
            </a:r>
            <a:r>
              <a:rPr/>
              <a:t> </a:t>
            </a:r>
            <a:r>
              <a:rPr/>
              <a:t>landmark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escluse.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disponibili</a:t>
            </a:r>
            <a:r>
              <a:rPr/>
              <a:t> </a:t>
            </a:r>
            <a:r>
              <a:rPr/>
              <a:t>endpoint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mortalità</a:t>
            </a:r>
            <a:r>
              <a:rPr/>
              <a:t> </a:t>
            </a:r>
            <a:r>
              <a:rPr/>
              <a:t>nei</a:t>
            </a:r>
            <a:r>
              <a:rPr/>
              <a:t> </a:t>
            </a:r>
            <a:r>
              <a:rPr/>
              <a:t>dati</a:t>
            </a:r>
            <a:r>
              <a:rPr/>
              <a:t> </a:t>
            </a:r>
            <a:r>
              <a:rPr/>
              <a:t>locali</a:t>
            </a:r>
            <a:r>
              <a:rPr/>
              <a:t> </a:t>
            </a:r>
            <a:r>
              <a:rPr/>
              <a:t>IDC.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delle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importanti.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pooled</a:t>
            </a:r>
            <a:r>
              <a:rPr/>
              <a:t> </a:t>
            </a:r>
            <a:r>
              <a:rPr/>
              <a:t>1-year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può</a:t>
            </a:r>
            <a:r>
              <a:rPr/>
              <a:t> </a:t>
            </a:r>
            <a:r>
              <a:rPr/>
              <a:t>sfruttare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tipo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transizione.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significa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label</a:t>
            </a:r>
            <a:r>
              <a:rPr/>
              <a:t> </a:t>
            </a:r>
            <a:r>
              <a:rPr/>
              <a:t>siano</a:t>
            </a:r>
            <a:r>
              <a:rPr/>
              <a:t> </a:t>
            </a:r>
            <a:r>
              <a:rPr/>
              <a:t>sbagliate;</a:t>
            </a:r>
            <a:r>
              <a:rPr/>
              <a:t> </a:t>
            </a:r>
            <a:r>
              <a:rPr/>
              <a:t>significa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selezione</a:t>
            </a:r>
            <a:r>
              <a:rPr/>
              <a:t> </a:t>
            </a:r>
            <a:r>
              <a:rPr/>
              <a:t>della</a:t>
            </a:r>
            <a:r>
              <a:rPr/>
              <a:t> </a:t>
            </a:r>
            <a:r>
              <a:rPr/>
              <a:t>coorte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storia</a:t>
            </a:r>
            <a:r>
              <a:rPr/>
              <a:t> </a:t>
            </a:r>
            <a:r>
              <a:rPr/>
              <a:t>naturale</a:t>
            </a:r>
            <a:r>
              <a:rPr/>
              <a:t> </a:t>
            </a:r>
            <a:r>
              <a:rPr/>
              <a:t>generano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forte</a:t>
            </a:r>
            <a:r>
              <a:rPr/>
              <a:t> </a:t>
            </a:r>
            <a:r>
              <a:rPr/>
              <a:t>differenza</a:t>
            </a:r>
            <a:r>
              <a:rPr/>
              <a:t> </a:t>
            </a:r>
            <a:r>
              <a:rPr/>
              <a:t>tra</a:t>
            </a:r>
            <a:r>
              <a:rPr/>
              <a:t> </a:t>
            </a:r>
            <a:r>
              <a:rPr/>
              <a:t>round.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abbiamo</a:t>
            </a:r>
            <a:r>
              <a:rPr/>
              <a:t> </a:t>
            </a:r>
            <a:r>
              <a:rPr/>
              <a:t>introdotto</a:t>
            </a:r>
            <a:r>
              <a:rPr/>
              <a:t> </a:t>
            </a:r>
            <a:r>
              <a:rPr/>
              <a:t>analisi</a:t>
            </a:r>
            <a:r>
              <a:rPr/>
              <a:t> </a:t>
            </a:r>
            <a:r>
              <a:rPr/>
              <a:t>stratificate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coorte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triplette,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riga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paziente.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Presentare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selezione</a:t>
            </a:r>
            <a:r>
              <a:rPr/>
              <a:t> </a:t>
            </a:r>
            <a:r>
              <a:rPr/>
              <a:t>dello</a:t>
            </a:r>
            <a:r>
              <a:rPr/>
              <a:t> </a:t>
            </a:r>
            <a:r>
              <a:rPr/>
              <a:t>“</a:t>
            </a:r>
            <a:r>
              <a:rPr/>
              <a:t>state</a:t>
            </a:r>
            <a:r>
              <a:rPr/>
              <a:t> </a:t>
            </a:r>
            <a:r>
              <a:rPr/>
              <a:t>space</a:t>
            </a:r>
            <a:r>
              <a:rPr/>
              <a:t>”</a:t>
            </a:r>
            <a:r>
              <a:rPr/>
              <a:t>.</a:t>
            </a:r>
            <a:r>
              <a:rPr/>
              <a:t> </a:t>
            </a:r>
            <a:r>
              <a:rPr/>
              <a:t>Rad-JEPA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decodifica</a:t>
            </a:r>
            <a:r>
              <a:rPr/>
              <a:t> </a:t>
            </a:r>
            <a:r>
              <a:rPr/>
              <a:t>noduli/sospetto;</a:t>
            </a:r>
            <a:r>
              <a:rPr/>
              <a:t> </a:t>
            </a:r>
            <a:r>
              <a:rPr/>
              <a:t>TANGERINE</a:t>
            </a:r>
            <a:r>
              <a:rPr/>
              <a:t> </a:t>
            </a:r>
            <a:r>
              <a:rPr/>
              <a:t>migliora</a:t>
            </a:r>
            <a:r>
              <a:rPr/>
              <a:t> </a:t>
            </a:r>
            <a:r>
              <a:rPr/>
              <a:t>soprattutto</a:t>
            </a:r>
            <a:r>
              <a:rPr/>
              <a:t> </a:t>
            </a:r>
            <a:r>
              <a:rPr/>
              <a:t>enfisema;</a:t>
            </a:r>
            <a:r>
              <a:rPr/>
              <a:t> </a:t>
            </a:r>
            <a:r>
              <a:rPr/>
              <a:t>COLIPRI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nettamente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forte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uniforme.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differenze</a:t>
            </a:r>
            <a:r>
              <a:rPr/>
              <a:t> </a:t>
            </a:r>
            <a:r>
              <a:rPr/>
              <a:t>includono</a:t>
            </a:r>
            <a:r>
              <a:rPr/>
              <a:t> </a:t>
            </a:r>
            <a:r>
              <a:rPr/>
              <a:t>anche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preprocessing</a:t>
            </a:r>
            <a:r>
              <a:rPr/>
              <a:t> </a:t>
            </a:r>
            <a:r>
              <a:rPr/>
              <a:t>nativi</a:t>
            </a:r>
            <a:r>
              <a:rPr/>
              <a:t> </a:t>
            </a:r>
            <a:r>
              <a:rPr/>
              <a:t>dei</a:t>
            </a:r>
            <a:r>
              <a:rPr/>
              <a:t> </a:t>
            </a:r>
            <a:r>
              <a:rPr/>
              <a:t>modelli,</a:t>
            </a:r>
            <a:r>
              <a:rPr/>
              <a:t> </a:t>
            </a:r>
            <a:r>
              <a:rPr/>
              <a:t>quindi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confronto</a:t>
            </a:r>
            <a:r>
              <a:rPr/>
              <a:t> </a:t>
            </a:r>
            <a:r>
              <a:rPr/>
              <a:t>architetturale</a:t>
            </a:r>
            <a:r>
              <a:rPr/>
              <a:t> </a:t>
            </a:r>
            <a:r>
              <a:rPr/>
              <a:t>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negativo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mostrato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bastava</a:t>
            </a:r>
            <a:r>
              <a:rPr/>
              <a:t> </a:t>
            </a:r>
            <a:r>
              <a:rPr/>
              <a:t>cambiare</a:t>
            </a:r>
            <a:r>
              <a:rPr/>
              <a:t> </a:t>
            </a:r>
            <a:r>
              <a:rPr/>
              <a:t>aggregazione.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attention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creato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vantaggio</a:t>
            </a:r>
            <a:r>
              <a:rPr/>
              <a:t> </a:t>
            </a:r>
            <a:r>
              <a:rPr/>
              <a:t>generale.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motivato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passaggio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foundation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whole-volume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forti.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dice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TANGERINE</a:t>
            </a:r>
            <a:r>
              <a:rPr/>
              <a:t> </a:t>
            </a:r>
            <a:r>
              <a:rPr/>
              <a:t>cattura</a:t>
            </a:r>
            <a:r>
              <a:rPr/>
              <a:t> </a:t>
            </a:r>
            <a:r>
              <a:rPr/>
              <a:t>fenotipi</a:t>
            </a:r>
            <a:r>
              <a:rPr/>
              <a:t> </a:t>
            </a:r>
            <a:r>
              <a:rPr/>
              <a:t>diffusi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l’enfisema,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global</a:t>
            </a:r>
            <a:r>
              <a:rPr/>
              <a:t> </a:t>
            </a:r>
            <a:r>
              <a:rPr/>
              <a:t>embedding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basta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focali.</a:t>
            </a:r>
            <a:r>
              <a:rPr/>
              <a:t> </a:t>
            </a:r>
            <a:r>
              <a:rPr/>
              <a:t>L’overlap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pretraining</a:t>
            </a:r>
            <a:r>
              <a:rPr/>
              <a:t> </a:t>
            </a:r>
            <a:r>
              <a:rPr/>
              <a:t>impedisce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chiamare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NLST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validazione</a:t>
            </a:r>
            <a:r>
              <a:rPr/>
              <a:t> </a:t>
            </a:r>
            <a:r>
              <a:rPr/>
              <a:t>indipendente.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COLIPRI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stato</a:t>
            </a:r>
            <a:r>
              <a:rPr/>
              <a:t> </a:t>
            </a:r>
            <a:r>
              <a:rPr/>
              <a:t>scelto</a:t>
            </a:r>
            <a:r>
              <a:rPr/>
              <a:t> </a:t>
            </a:r>
            <a:r>
              <a:rPr/>
              <a:t>perché</a:t>
            </a:r>
            <a:r>
              <a:rPr/>
              <a:t> </a:t>
            </a:r>
            <a:r>
              <a:rPr/>
              <a:t>“</a:t>
            </a:r>
            <a:r>
              <a:rPr/>
              <a:t>ricostruisce</a:t>
            </a:r>
            <a:r>
              <a:rPr/>
              <a:t> </a:t>
            </a:r>
            <a:r>
              <a:rPr/>
              <a:t>meglio</a:t>
            </a:r>
            <a:r>
              <a:rPr/>
              <a:t>”</a:t>
            </a:r>
            <a:r>
              <a:rPr/>
              <a:t>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perché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suo</a:t>
            </a:r>
            <a:r>
              <a:rPr/>
              <a:t> </a:t>
            </a:r>
            <a:r>
              <a:rPr/>
              <a:t>spazio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clinicamente</a:t>
            </a:r>
            <a:r>
              <a:rPr/>
              <a:t> </a:t>
            </a:r>
            <a:r>
              <a:rPr/>
              <a:t>decodificabile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testa</a:t>
            </a:r>
            <a:r>
              <a:rPr/>
              <a:t> </a:t>
            </a:r>
            <a:r>
              <a:rPr/>
              <a:t>molto</a:t>
            </a:r>
            <a:r>
              <a:rPr/>
              <a:t> </a:t>
            </a:r>
            <a:r>
              <a:rPr/>
              <a:t>semplice.</a:t>
            </a:r>
            <a:r>
              <a:rPr/>
              <a:t> </a:t>
            </a:r>
            <a:r>
              <a:rPr/>
              <a:t>Anche</a:t>
            </a:r>
            <a:r>
              <a:rPr/>
              <a:t> </a:t>
            </a:r>
            <a:r>
              <a:rPr/>
              <a:t>COLIPRI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usato</a:t>
            </a:r>
            <a:r>
              <a:rPr/>
              <a:t> </a:t>
            </a:r>
            <a:r>
              <a:rPr/>
              <a:t>immagini</a:t>
            </a:r>
            <a:r>
              <a:rPr/>
              <a:t> </a:t>
            </a:r>
            <a:r>
              <a:rPr/>
              <a:t>NLST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pretraining</a:t>
            </a:r>
            <a:r>
              <a:rPr/>
              <a:t> </a:t>
            </a:r>
            <a:r>
              <a:rPr/>
              <a:t>MAE;</a:t>
            </a:r>
            <a:r>
              <a:rPr/>
              <a:t> </a:t>
            </a:r>
            <a:r>
              <a:rPr/>
              <a:t>l’overlap</a:t>
            </a:r>
            <a:r>
              <a:rPr/>
              <a:t> </a:t>
            </a:r>
            <a:r>
              <a:rPr/>
              <a:t>esatto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documentato.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Rispondere</a:t>
            </a:r>
            <a:r>
              <a:rPr/>
              <a:t> </a:t>
            </a:r>
            <a:r>
              <a:rPr/>
              <a:t>esplicitamente</a:t>
            </a:r>
            <a:r>
              <a:rPr/>
              <a:t> </a:t>
            </a:r>
            <a:r>
              <a:rPr/>
              <a:t>alla</a:t>
            </a:r>
            <a:r>
              <a:rPr/>
              <a:t> </a:t>
            </a:r>
            <a:r>
              <a:rPr/>
              <a:t>domanda</a:t>
            </a:r>
            <a:r>
              <a:rPr/>
              <a:t> </a:t>
            </a:r>
            <a:r>
              <a:rPr/>
              <a:t>ricorrente</a:t>
            </a:r>
            <a:r>
              <a:rPr/>
              <a:t> </a:t>
            </a:r>
            <a:r>
              <a:rPr/>
              <a:t>sull’aggregazione.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griglia</a:t>
            </a:r>
            <a:r>
              <a:rPr/>
              <a:t> </a:t>
            </a:r>
            <a:r>
              <a:rPr/>
              <a:t>24³</a:t>
            </a:r>
            <a:r>
              <a:rPr/>
              <a:t> </a:t>
            </a:r>
            <a:r>
              <a:rPr/>
              <a:t>viene</a:t>
            </a:r>
            <a:r>
              <a:rPr/>
              <a:t> </a:t>
            </a:r>
            <a:r>
              <a:rPr/>
              <a:t>mediata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ottenere</a:t>
            </a:r>
            <a:r>
              <a:rPr/>
              <a:t> </a:t>
            </a:r>
            <a:r>
              <a:rPr/>
              <a:t>z</a:t>
            </a:r>
            <a:r>
              <a:rPr/>
              <a:t> </a:t>
            </a:r>
            <a:r>
              <a:rPr/>
              <a:t>864-d. Per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spaziale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stessa</a:t>
            </a:r>
            <a:r>
              <a:rPr/>
              <a:t> </a:t>
            </a:r>
            <a:r>
              <a:rPr/>
              <a:t>griglia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ridotta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4³</a:t>
            </a:r>
            <a:r>
              <a:rPr/>
              <a:t> </a:t>
            </a:r>
            <a:r>
              <a:rPr/>
              <a:t>blocchi,</a:t>
            </a:r>
            <a:r>
              <a:rPr/>
              <a:t> </a:t>
            </a:r>
            <a:r>
              <a:rPr/>
              <a:t>quindi</a:t>
            </a:r>
            <a:r>
              <a:rPr/>
              <a:t> </a:t>
            </a:r>
            <a:r>
              <a:rPr/>
              <a:t>64</a:t>
            </a:r>
            <a:r>
              <a:rPr/>
              <a:t> </a:t>
            </a:r>
            <a:r>
              <a:rPr/>
              <a:t>token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864</a:t>
            </a:r>
            <a:r>
              <a:rPr/>
              <a:t> </a:t>
            </a:r>
            <a:r>
              <a:rPr/>
              <a:t>dimensioni.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media</a:t>
            </a:r>
            <a:r>
              <a:rPr/>
              <a:t> </a:t>
            </a:r>
            <a:r>
              <a:rPr/>
              <a:t>dei</a:t>
            </a:r>
            <a:r>
              <a:rPr/>
              <a:t> </a:t>
            </a:r>
            <a:r>
              <a:rPr/>
              <a:t>64</a:t>
            </a:r>
            <a:r>
              <a:rPr/>
              <a:t> </a:t>
            </a:r>
            <a:r>
              <a:rPr/>
              <a:t>token</a:t>
            </a:r>
            <a:r>
              <a:rPr/>
              <a:t> </a:t>
            </a:r>
            <a:r>
              <a:rPr/>
              <a:t>ricostruisce</a:t>
            </a:r>
            <a:r>
              <a:rPr/>
              <a:t> </a:t>
            </a:r>
            <a:r>
              <a:rPr/>
              <a:t>numericamente</a:t>
            </a:r>
            <a:r>
              <a:rPr/>
              <a:t> </a:t>
            </a:r>
            <a:r>
              <a:rPr/>
              <a:t>lo</a:t>
            </a:r>
            <a:r>
              <a:rPr/>
              <a:t> </a:t>
            </a:r>
            <a:r>
              <a:rPr/>
              <a:t>stesso</a:t>
            </a:r>
            <a:r>
              <a:rPr/>
              <a:t> </a:t>
            </a:r>
            <a:r>
              <a:rPr/>
              <a:t>z</a:t>
            </a:r>
            <a:r>
              <a:rPr/>
              <a:t> </a:t>
            </a:r>
            <a:r>
              <a:rPr/>
              <a:t>globale.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“</a:t>
            </a:r>
            <a:r>
              <a:rPr/>
              <a:t>north</a:t>
            </a:r>
            <a:r>
              <a:rPr/>
              <a:t> </a:t>
            </a:r>
            <a:r>
              <a:rPr/>
              <a:t>star</a:t>
            </a:r>
            <a:r>
              <a:rPr/>
              <a:t>”</a:t>
            </a:r>
            <a:r>
              <a:rPr/>
              <a:t>.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anno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passaggio</a:t>
            </a:r>
            <a:r>
              <a:rPr/>
              <a:t> </a:t>
            </a:r>
            <a:r>
              <a:rPr/>
              <a:t>dal</a:t>
            </a:r>
            <a:r>
              <a:rPr/>
              <a:t> </a:t>
            </a:r>
            <a:r>
              <a:rPr/>
              <a:t>presente</a:t>
            </a:r>
            <a:r>
              <a:rPr/>
              <a:t> </a:t>
            </a:r>
            <a:r>
              <a:rPr/>
              <a:t>al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vale</a:t>
            </a:r>
            <a:r>
              <a:rPr/>
              <a:t> </a:t>
            </a:r>
            <a:r>
              <a:rPr/>
              <a:t>circa</a:t>
            </a:r>
            <a:r>
              <a:rPr/>
              <a:t> </a:t>
            </a:r>
            <a:r>
              <a:rPr/>
              <a:t>+0,155</a:t>
            </a:r>
            <a:r>
              <a:rPr/>
              <a:t> </a:t>
            </a:r>
            <a:r>
              <a:rPr/>
              <a:t>AUROC;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anni</a:t>
            </a:r>
            <a:r>
              <a:rPr/>
              <a:t> </a:t>
            </a:r>
            <a:r>
              <a:rPr/>
              <a:t>+0,088;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anni</a:t>
            </a:r>
            <a:r>
              <a:rPr/>
              <a:t> </a:t>
            </a:r>
            <a:r>
              <a:rPr/>
              <a:t>+0,032.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vantaggio</a:t>
            </a:r>
            <a:r>
              <a:rPr/>
              <a:t> </a:t>
            </a:r>
            <a:r>
              <a:rPr/>
              <a:t>diminuisce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l’orizzonte,</a:t>
            </a:r>
            <a:r>
              <a:rPr/>
              <a:t> </a:t>
            </a:r>
            <a:r>
              <a:rPr/>
              <a:t>coerentemente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diagnosis-adjacent.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utilizzabile: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l’upper</a:t>
            </a:r>
            <a:r>
              <a:rPr/>
              <a:t> </a:t>
            </a:r>
            <a:r>
              <a:rPr/>
              <a:t>bound</a:t>
            </a:r>
            <a:r>
              <a:rPr/>
              <a:t> </a:t>
            </a:r>
            <a:r>
              <a:rPr/>
              <a:t>osservato.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Sottolineare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separazione: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vede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cancro;</a:t>
            </a:r>
            <a:r>
              <a:rPr/>
              <a:t> </a:t>
            </a:r>
            <a:r>
              <a:rPr/>
              <a:t>dopo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training</a:t>
            </a:r>
            <a:r>
              <a:rPr/>
              <a:t> </a:t>
            </a:r>
            <a:r>
              <a:rPr/>
              <a:t>viene</a:t>
            </a:r>
            <a:r>
              <a:rPr/>
              <a:t> </a:t>
            </a:r>
            <a:r>
              <a:rPr/>
              <a:t>congelato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valutato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lo</a:t>
            </a:r>
            <a:r>
              <a:rPr/>
              <a:t> </a:t>
            </a:r>
            <a:r>
              <a:rPr/>
              <a:t>stesso</a:t>
            </a:r>
            <a:r>
              <a:rPr/>
              <a:t> </a:t>
            </a:r>
            <a:r>
              <a:rPr/>
              <a:t>probe.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scelta</a:t>
            </a:r>
            <a:r>
              <a:rPr/>
              <a:t> </a:t>
            </a:r>
            <a:r>
              <a:rPr/>
              <a:t>testa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l’informazione</a:t>
            </a:r>
            <a:r>
              <a:rPr/>
              <a:t> </a:t>
            </a:r>
            <a:r>
              <a:rPr/>
              <a:t>prognostica</a:t>
            </a:r>
            <a:r>
              <a:rPr/>
              <a:t> </a:t>
            </a:r>
            <a:r>
              <a:rPr/>
              <a:t>emerge</a:t>
            </a:r>
            <a:r>
              <a:rPr/>
              <a:t> </a:t>
            </a:r>
            <a:r>
              <a:rPr/>
              <a:t>dalla</a:t>
            </a:r>
            <a:r>
              <a:rPr/>
              <a:t> </a:t>
            </a:r>
            <a:r>
              <a:rPr/>
              <a:t>previsione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futuro,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dalla</a:t>
            </a:r>
            <a:r>
              <a:rPr/>
              <a:t> </a:t>
            </a:r>
            <a:r>
              <a:rPr/>
              <a:t>supervisione</a:t>
            </a:r>
            <a:r>
              <a:rPr/>
              <a:t> </a:t>
            </a:r>
            <a:r>
              <a:rPr/>
              <a:t>outcome-driven.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L’identità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baseline</a:t>
            </a:r>
            <a:r>
              <a:rPr/>
              <a:t> </a:t>
            </a:r>
            <a:r>
              <a:rPr/>
              <a:t>molto</a:t>
            </a:r>
            <a:r>
              <a:rPr/>
              <a:t> </a:t>
            </a:r>
            <a:r>
              <a:rPr/>
              <a:t>forte</a:t>
            </a:r>
            <a:r>
              <a:rPr/>
              <a:t> </a:t>
            </a:r>
            <a:r>
              <a:rPr/>
              <a:t>perché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scansioni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simili.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predice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usa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skip</a:t>
            </a:r>
            <a:r>
              <a:rPr/>
              <a:t> </a:t>
            </a:r>
            <a:r>
              <a:rPr/>
              <a:t>connection.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prima</a:t>
            </a:r>
            <a:r>
              <a:rPr/>
              <a:t> </a:t>
            </a:r>
            <a:r>
              <a:rPr/>
              <a:t>versione</a:t>
            </a:r>
            <a:r>
              <a:rPr/>
              <a:t> </a:t>
            </a:r>
            <a:r>
              <a:rPr/>
              <a:t>ottimizzava</a:t>
            </a:r>
            <a:r>
              <a:rPr/>
              <a:t> </a:t>
            </a:r>
            <a:r>
              <a:rPr/>
              <a:t>MSE</a:t>
            </a:r>
            <a:r>
              <a:rPr/>
              <a:t> </a:t>
            </a:r>
            <a:r>
              <a:rPr/>
              <a:t>raw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cosine</a:t>
            </a:r>
            <a:r>
              <a:rPr/>
              <a:t> </a:t>
            </a:r>
            <a:r>
              <a:rPr/>
              <a:t>sul</a:t>
            </a:r>
            <a:r>
              <a:rPr/>
              <a:t> </a:t>
            </a:r>
            <a:r>
              <a:rPr/>
              <a:t>futuro;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versione</a:t>
            </a:r>
            <a:r>
              <a:rPr/>
              <a:t> </a:t>
            </a:r>
            <a:r>
              <a:rPr/>
              <a:t>corretta</a:t>
            </a:r>
            <a:r>
              <a:rPr/>
              <a:t> </a:t>
            </a:r>
            <a:r>
              <a:rPr/>
              <a:t>predice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standardizzato</a:t>
            </a:r>
            <a:r>
              <a:rPr/>
              <a:t> </a:t>
            </a:r>
            <a:r>
              <a:rPr/>
              <a:t>feature-wise.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scaling</a:t>
            </a:r>
            <a:r>
              <a:rPr/>
              <a:t> </a:t>
            </a:r>
            <a:r>
              <a:rPr/>
              <a:t>era</a:t>
            </a:r>
            <a:r>
              <a:rPr/>
              <a:t> </a:t>
            </a:r>
            <a:r>
              <a:rPr/>
              <a:t>davvero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problema:</a:t>
            </a:r>
            <a:r>
              <a:rPr/>
              <a:t> </a:t>
            </a:r>
            <a:r>
              <a:rPr/>
              <a:t>finalmente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batte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persistenza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MSE.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l’AUROC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anno</a:t>
            </a:r>
            <a:r>
              <a:rPr/>
              <a:t> </a:t>
            </a:r>
            <a:r>
              <a:rPr/>
              <a:t>passa</a:t>
            </a:r>
            <a:r>
              <a:rPr/>
              <a:t> </a:t>
            </a:r>
            <a:r>
              <a:rPr/>
              <a:t>solo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circa</a:t>
            </a:r>
            <a:r>
              <a:rPr/>
              <a:t> </a:t>
            </a:r>
            <a:r>
              <a:rPr/>
              <a:t>0,715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0,722,</a:t>
            </a:r>
            <a:r>
              <a:rPr/>
              <a:t> </a:t>
            </a:r>
            <a:r>
              <a:rPr/>
              <a:t>ancora</a:t>
            </a:r>
            <a:r>
              <a:rPr/>
              <a:t> </a:t>
            </a:r>
            <a:r>
              <a:rPr/>
              <a:t>lontano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0,870.</a:t>
            </a:r>
            <a:r>
              <a:rPr/>
              <a:t> </a:t>
            </a:r>
            <a:r>
              <a:rPr/>
              <a:t>Cosine</a:t>
            </a:r>
            <a:r>
              <a:rPr/>
              <a:t> </a:t>
            </a:r>
            <a:r>
              <a:rPr/>
              <a:t>aggiuntivo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residual</a:t>
            </a:r>
            <a:r>
              <a:rPr/>
              <a:t> </a:t>
            </a:r>
            <a:r>
              <a:rPr/>
              <a:t>shrinkage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hanno</a:t>
            </a:r>
            <a:r>
              <a:rPr/>
              <a:t> </a:t>
            </a:r>
            <a:r>
              <a:rPr/>
              <a:t>cambiato</a:t>
            </a:r>
            <a:r>
              <a:rPr/>
              <a:t> </a:t>
            </a:r>
            <a:r>
              <a:rPr/>
              <a:t>materialmente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risultato.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separa</a:t>
            </a:r>
            <a:r>
              <a:rPr/>
              <a:t> </a:t>
            </a:r>
            <a:r>
              <a:rPr/>
              <a:t>chiaramente</a:t>
            </a:r>
            <a:r>
              <a:rPr/>
              <a:t> </a:t>
            </a:r>
            <a:r>
              <a:rPr/>
              <a:t>“</a:t>
            </a:r>
            <a:r>
              <a:rPr/>
              <a:t>prevedere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media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futuro</a:t>
            </a:r>
            <a:r>
              <a:rPr/>
              <a:t>”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“</a:t>
            </a:r>
            <a:r>
              <a:rPr/>
              <a:t>prevedere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parte</a:t>
            </a:r>
            <a:r>
              <a:rPr/>
              <a:t> </a:t>
            </a:r>
            <a:r>
              <a:rPr/>
              <a:t>clinicamente</a:t>
            </a:r>
            <a:r>
              <a:rPr/>
              <a:t> </a:t>
            </a:r>
            <a:r>
              <a:rPr/>
              <a:t>utile</a:t>
            </a:r>
            <a:r>
              <a:rPr/>
              <a:t>”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PCA</a:t>
            </a:r>
            <a:r>
              <a:rPr/>
              <a:t> </a:t>
            </a:r>
            <a:r>
              <a:rPr/>
              <a:t>era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bottleneck</a:t>
            </a:r>
            <a:r>
              <a:rPr/>
              <a:t> </a:t>
            </a:r>
            <a:r>
              <a:rPr/>
              <a:t>reale,</a:t>
            </a:r>
            <a:r>
              <a:rPr/>
              <a:t> </a:t>
            </a:r>
            <a:r>
              <a:rPr/>
              <a:t>perché</a:t>
            </a:r>
            <a:r>
              <a:rPr/>
              <a:t> </a:t>
            </a:r>
            <a:r>
              <a:rPr/>
              <a:t>indeboliva</a:t>
            </a:r>
            <a:r>
              <a:rPr/>
              <a:t> </a:t>
            </a:r>
            <a:r>
              <a:rPr/>
              <a:t>persino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osservato.</a:t>
            </a:r>
            <a:r>
              <a:rPr/>
              <a:t> </a:t>
            </a:r>
            <a:r>
              <a:rPr/>
              <a:t>Rimuoverla</a:t>
            </a:r>
            <a:r>
              <a:rPr/>
              <a:t> </a:t>
            </a:r>
            <a:r>
              <a:rPr/>
              <a:t>ripristina</a:t>
            </a:r>
            <a:r>
              <a:rPr/>
              <a:t> </a:t>
            </a:r>
            <a:r>
              <a:rPr/>
              <a:t>lo</a:t>
            </a:r>
            <a:r>
              <a:rPr/>
              <a:t> </a:t>
            </a:r>
            <a:r>
              <a:rPr/>
              <a:t>spazio</a:t>
            </a:r>
            <a:r>
              <a:rPr/>
              <a:t> </a:t>
            </a:r>
            <a:r>
              <a:rPr/>
              <a:t>COLIPRI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migliora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focali,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crea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vantaggio</a:t>
            </a:r>
            <a:r>
              <a:rPr/>
              <a:t> </a:t>
            </a:r>
            <a:r>
              <a:rPr/>
              <a:t>prognostico.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problema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sembra</a:t>
            </a:r>
            <a:r>
              <a:rPr/>
              <a:t> </a:t>
            </a:r>
            <a:r>
              <a:rPr/>
              <a:t>quindi</a:t>
            </a:r>
            <a:r>
              <a:rPr/>
              <a:t> </a:t>
            </a:r>
            <a:r>
              <a:rPr/>
              <a:t>“</a:t>
            </a:r>
            <a:r>
              <a:rPr/>
              <a:t>manca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Transformer</a:t>
            </a:r>
            <a:r>
              <a:rPr/>
              <a:t>”</a:t>
            </a:r>
            <a:r>
              <a:rPr/>
              <a:t>: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circa</a:t>
            </a:r>
            <a:r>
              <a:rPr/>
              <a:t> </a:t>
            </a:r>
            <a:r>
              <a:rPr/>
              <a:t>2.000</a:t>
            </a:r>
            <a:r>
              <a:rPr/>
              <a:t> </a:t>
            </a:r>
            <a:r>
              <a:rPr/>
              <a:t>coppie,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capacità</a:t>
            </a:r>
            <a:r>
              <a:rPr/>
              <a:t> </a:t>
            </a:r>
            <a:r>
              <a:rPr/>
              <a:t>rischierebbe</a:t>
            </a:r>
            <a:r>
              <a:rPr/>
              <a:t> </a:t>
            </a:r>
            <a:r>
              <a:rPr/>
              <a:t>solo</a:t>
            </a:r>
            <a:r>
              <a:rPr/>
              <a:t> </a:t>
            </a:r>
            <a:r>
              <a:rPr/>
              <a:t>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Tutte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barre</a:t>
            </a:r>
            <a:r>
              <a:rPr/>
              <a:t> </a:t>
            </a:r>
            <a:r>
              <a:rPr/>
              <a:t>usano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label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t+1.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nativo</a:t>
            </a:r>
            <a:r>
              <a:rPr/>
              <a:t> </a:t>
            </a:r>
            <a:r>
              <a:rPr/>
              <a:t>passa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0,698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0,706</a:t>
            </a:r>
            <a:r>
              <a:rPr/>
              <a:t> </a:t>
            </a:r>
            <a:r>
              <a:rPr/>
              <a:t>sul</a:t>
            </a:r>
            <a:r>
              <a:rPr/>
              <a:t> </a:t>
            </a:r>
            <a:r>
              <a:rPr/>
              <a:t>sospetto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0,700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0,712</a:t>
            </a:r>
            <a:r>
              <a:rPr/>
              <a:t> </a:t>
            </a:r>
            <a:r>
              <a:rPr/>
              <a:t>sul</a:t>
            </a:r>
            <a:r>
              <a:rPr/>
              <a:t> </a:t>
            </a:r>
            <a:r>
              <a:rPr/>
              <a:t>nodulo,</a:t>
            </a:r>
            <a:r>
              <a:rPr/>
              <a:t> </a:t>
            </a:r>
            <a:r>
              <a:rPr/>
              <a:t>mentre</a:t>
            </a:r>
            <a:r>
              <a:rPr/>
              <a:t> </a:t>
            </a:r>
            <a:r>
              <a:rPr/>
              <a:t>gli</a:t>
            </a:r>
            <a:r>
              <a:rPr/>
              <a:t> </a:t>
            </a:r>
            <a:r>
              <a:rPr/>
              <a:t>oracle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0,790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0,786.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coerente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piccolo:</a:t>
            </a:r>
            <a:r>
              <a:rPr/>
              <a:t> </a:t>
            </a:r>
            <a:r>
              <a:rPr/>
              <a:t>preservare</a:t>
            </a:r>
            <a:r>
              <a:rPr/>
              <a:t> </a:t>
            </a:r>
            <a:r>
              <a:rPr/>
              <a:t>spazio</a:t>
            </a:r>
            <a:r>
              <a:rPr/>
              <a:t> </a:t>
            </a:r>
            <a:r>
              <a:rPr/>
              <a:t>aiuta,</a:t>
            </a:r>
            <a:r>
              <a:rPr/>
              <a:t> </a:t>
            </a:r>
            <a:r>
              <a:rPr/>
              <a:t>tuttavia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transizione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sa</a:t>
            </a:r>
            <a:r>
              <a:rPr/>
              <a:t> </a:t>
            </a:r>
            <a:r>
              <a:rPr/>
              <a:t>prevedere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nuova</a:t>
            </a:r>
            <a:r>
              <a:rPr/>
              <a:t> </a:t>
            </a:r>
            <a:r>
              <a:rPr/>
              <a:t>informazione</a:t>
            </a:r>
            <a:r>
              <a:rPr/>
              <a:t> </a:t>
            </a:r>
            <a:r>
              <a:rPr/>
              <a:t>focale.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Essere</a:t>
            </a:r>
            <a:r>
              <a:rPr/>
              <a:t> </a:t>
            </a:r>
            <a:r>
              <a:rPr/>
              <a:t>molto</a:t>
            </a:r>
            <a:r>
              <a:rPr/>
              <a:t> </a:t>
            </a:r>
            <a:r>
              <a:rPr/>
              <a:t>trasparenti: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mostrare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AUROC</a:t>
            </a:r>
            <a:r>
              <a:rPr/>
              <a:t> </a:t>
            </a:r>
            <a:r>
              <a:rPr/>
              <a:t>vicine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0,5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scientifico,</a:t>
            </a:r>
            <a:r>
              <a:rPr/>
              <a:t> </a:t>
            </a:r>
            <a:r>
              <a:rPr/>
              <a:t>perché</a:t>
            </a:r>
            <a:r>
              <a:rPr/>
              <a:t> </a:t>
            </a:r>
            <a:r>
              <a:rPr/>
              <a:t>erano</a:t>
            </a:r>
            <a:r>
              <a:rPr/>
              <a:t> </a:t>
            </a:r>
            <a:r>
              <a:rPr/>
              <a:t>prodotte</a:t>
            </a:r>
            <a:r>
              <a:rPr/>
              <a:t> </a:t>
            </a:r>
            <a:r>
              <a:rPr/>
              <a:t>dal</a:t>
            </a:r>
            <a:r>
              <a:rPr/>
              <a:t> </a:t>
            </a:r>
            <a:r>
              <a:rPr/>
              <a:t>bug.</a:t>
            </a:r>
            <a:r>
              <a:rPr/>
              <a:t> </a:t>
            </a:r>
            <a:r>
              <a:rPr/>
              <a:t>Dopo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correzione,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bottleneck</a:t>
            </a:r>
            <a:r>
              <a:rPr/>
              <a:t> </a:t>
            </a:r>
            <a:r>
              <a:rPr/>
              <a:t>compatto</a:t>
            </a:r>
            <a:r>
              <a:rPr/>
              <a:t> </a:t>
            </a:r>
            <a:r>
              <a:rPr/>
              <a:t>resta</a:t>
            </a:r>
            <a:r>
              <a:rPr/>
              <a:t> </a:t>
            </a:r>
            <a:r>
              <a:rPr/>
              <a:t>meno</a:t>
            </a:r>
            <a:r>
              <a:rPr/>
              <a:t> </a:t>
            </a:r>
            <a:r>
              <a:rPr/>
              <a:t>prognostico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nativo.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ragione</a:t>
            </a:r>
            <a:r>
              <a:rPr/>
              <a:t> </a:t>
            </a:r>
            <a:r>
              <a:rPr/>
              <a:t>plausibile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MSE</a:t>
            </a:r>
            <a:r>
              <a:rPr/>
              <a:t> </a:t>
            </a:r>
            <a:r>
              <a:rPr/>
              <a:t>privilegia</a:t>
            </a:r>
            <a:r>
              <a:rPr/>
              <a:t> </a:t>
            </a:r>
            <a:r>
              <a:rPr/>
              <a:t>direzioni</a:t>
            </a:r>
            <a:r>
              <a:rPr/>
              <a:t> </a:t>
            </a:r>
            <a:r>
              <a:rPr/>
              <a:t>ad</a:t>
            </a:r>
            <a:r>
              <a:rPr/>
              <a:t> </a:t>
            </a:r>
            <a:r>
              <a:rPr/>
              <a:t>alta</a:t>
            </a:r>
            <a:r>
              <a:rPr/>
              <a:t> </a:t>
            </a:r>
            <a:r>
              <a:rPr/>
              <a:t>varianza,</a:t>
            </a:r>
            <a:r>
              <a:rPr/>
              <a:t> </a:t>
            </a:r>
            <a:r>
              <a:rPr/>
              <a:t>mentre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prognostico</a:t>
            </a:r>
            <a:r>
              <a:rPr/>
              <a:t> </a:t>
            </a:r>
            <a:r>
              <a:rPr/>
              <a:t>può</a:t>
            </a:r>
            <a:r>
              <a:rPr/>
              <a:t> </a:t>
            </a:r>
            <a:r>
              <a:rPr/>
              <a:t>vivere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componenti</a:t>
            </a:r>
            <a:r>
              <a:rPr/>
              <a:t> </a:t>
            </a:r>
            <a:r>
              <a:rPr/>
              <a:t>piccole.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esperimento</a:t>
            </a:r>
            <a:r>
              <a:rPr/>
              <a:t> </a:t>
            </a:r>
            <a:r>
              <a:rPr/>
              <a:t>risponde</a:t>
            </a:r>
            <a:r>
              <a:rPr/>
              <a:t> </a:t>
            </a:r>
            <a:r>
              <a:rPr/>
              <a:t>alla</a:t>
            </a:r>
            <a:r>
              <a:rPr/>
              <a:t> </a:t>
            </a:r>
            <a:r>
              <a:rPr/>
              <a:t>domanda</a:t>
            </a:r>
            <a:r>
              <a:rPr/>
              <a:t> </a:t>
            </a:r>
            <a:r>
              <a:rPr/>
              <a:t>“</a:t>
            </a:r>
            <a:r>
              <a:rPr/>
              <a:t>l’adapter</a:t>
            </a:r>
            <a:r>
              <a:rPr/>
              <a:t> </a:t>
            </a:r>
            <a:r>
              <a:rPr/>
              <a:t>sta</a:t>
            </a:r>
            <a:r>
              <a:rPr/>
              <a:t> </a:t>
            </a:r>
            <a:r>
              <a:rPr/>
              <a:t>distruggendo</a:t>
            </a:r>
            <a:r>
              <a:rPr/>
              <a:t> </a:t>
            </a:r>
            <a:r>
              <a:rPr/>
              <a:t>informazione?</a:t>
            </a:r>
            <a:r>
              <a:rPr/>
              <a:t>”</a:t>
            </a:r>
            <a:r>
              <a:rPr/>
              <a:t>.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percorso</a:t>
            </a:r>
            <a:r>
              <a:rPr/>
              <a:t> </a:t>
            </a:r>
            <a:r>
              <a:rPr/>
              <a:t>residuale,</a:t>
            </a:r>
            <a:r>
              <a:rPr/>
              <a:t> </a:t>
            </a:r>
            <a:r>
              <a:rPr/>
              <a:t>no: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conserva.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conservarla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basta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prevedere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vantaggio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futuro.</a:t>
            </a:r>
            <a:r>
              <a:rPr/>
              <a:t> </a:t>
            </a:r>
            <a:r>
              <a:rPr/>
              <a:t>SIGReg</a:t>
            </a:r>
            <a:r>
              <a:rPr/>
              <a:t> </a:t>
            </a:r>
            <a:r>
              <a:rPr/>
              <a:t>può</a:t>
            </a:r>
            <a:r>
              <a:rPr/>
              <a:t> </a:t>
            </a:r>
            <a:r>
              <a:rPr/>
              <a:t>regolarizzare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distribuzione,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inventare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oncologico</a:t>
            </a:r>
            <a:r>
              <a:rPr/>
              <a:t> </a:t>
            </a:r>
            <a:r>
              <a:rPr/>
              <a:t>assente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passato.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supervisione</a:t>
            </a:r>
            <a:r>
              <a:rPr/>
              <a:t> </a:t>
            </a:r>
            <a:r>
              <a:rPr/>
              <a:t>prognostica</a:t>
            </a:r>
            <a:r>
              <a:rPr/>
              <a:t> </a:t>
            </a:r>
            <a:r>
              <a:rPr/>
              <a:t>era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prova</a:t>
            </a:r>
            <a:r>
              <a:rPr/>
              <a:t> </a:t>
            </a:r>
            <a:r>
              <a:rPr/>
              <a:t>controllata,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finale.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indica</a:t>
            </a:r>
            <a:r>
              <a:rPr/>
              <a:t> </a:t>
            </a:r>
            <a:r>
              <a:rPr/>
              <a:t>che,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numerosità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questi</a:t>
            </a:r>
            <a:r>
              <a:rPr/>
              <a:t> </a:t>
            </a:r>
            <a:r>
              <a:rPr/>
              <a:t>endpoint,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adapter</a:t>
            </a:r>
            <a:r>
              <a:rPr/>
              <a:t> </a:t>
            </a:r>
            <a:r>
              <a:rPr/>
              <a:t>residuale</a:t>
            </a:r>
            <a:r>
              <a:rPr/>
              <a:t> </a:t>
            </a:r>
            <a:r>
              <a:rPr/>
              <a:t>tende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restare</a:t>
            </a:r>
            <a:r>
              <a:rPr/>
              <a:t> </a:t>
            </a:r>
            <a:r>
              <a:rPr/>
              <a:t>vicino</a:t>
            </a:r>
            <a:r>
              <a:rPr/>
              <a:t> </a:t>
            </a:r>
            <a:r>
              <a:rPr/>
              <a:t>all’identità.</a:t>
            </a:r>
            <a:r>
              <a:rPr/>
              <a:t> </a:t>
            </a:r>
            <a:r>
              <a:rPr/>
              <a:t>L’MLP</a:t>
            </a:r>
            <a:r>
              <a:rPr/>
              <a:t> </a:t>
            </a:r>
            <a:r>
              <a:rPr/>
              <a:t>senza</a:t>
            </a:r>
            <a:r>
              <a:rPr/>
              <a:t> </a:t>
            </a:r>
            <a:r>
              <a:rPr/>
              <a:t>skip</a:t>
            </a:r>
            <a:r>
              <a:rPr/>
              <a:t> </a:t>
            </a:r>
            <a:r>
              <a:rPr/>
              <a:t>generalizza</a:t>
            </a:r>
            <a:r>
              <a:rPr/>
              <a:t> </a:t>
            </a:r>
            <a:r>
              <a:rPr/>
              <a:t>peggio.</a:t>
            </a:r>
            <a:r>
              <a:rPr/>
              <a:t> </a:t>
            </a:r>
            <a:r>
              <a:rPr/>
              <a:t>Ricordare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baseline</a:t>
            </a:r>
            <a:r>
              <a:rPr/>
              <a:t> </a:t>
            </a:r>
            <a:r>
              <a:rPr/>
              <a:t>round-only,</a:t>
            </a:r>
            <a:r>
              <a:rPr/>
              <a:t> </a:t>
            </a:r>
            <a:r>
              <a:rPr/>
              <a:t>soprattutto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anno.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esperimento</a:t>
            </a:r>
            <a:r>
              <a:rPr/>
              <a:t> </a:t>
            </a:r>
            <a:r>
              <a:rPr/>
              <a:t>rimuove</a:t>
            </a:r>
            <a:r>
              <a:rPr/>
              <a:t> </a:t>
            </a:r>
            <a:r>
              <a:rPr/>
              <a:t>l’incertezza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model:</a:t>
            </a:r>
            <a:r>
              <a:rPr/>
              <a:t> </a:t>
            </a:r>
            <a:r>
              <a:rPr/>
              <a:t>usiamo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T1−T0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chiediamo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aiuta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prevedere</a:t>
            </a:r>
            <a:r>
              <a:rPr/>
              <a:t> </a:t>
            </a:r>
            <a:r>
              <a:rPr/>
              <a:t>dopo</a:t>
            </a:r>
            <a:r>
              <a:rPr/>
              <a:t> </a:t>
            </a:r>
            <a:r>
              <a:rPr/>
              <a:t>T2.</a:t>
            </a:r>
            <a:r>
              <a:rPr/>
              <a:t> </a:t>
            </a:r>
            <a:r>
              <a:rPr/>
              <a:t>Né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globale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né</a:t>
            </a:r>
            <a:r>
              <a:rPr/>
              <a:t> </a:t>
            </a:r>
            <a:r>
              <a:rPr/>
              <a:t>quello</a:t>
            </a:r>
            <a:r>
              <a:rPr/>
              <a:t> </a:t>
            </a:r>
            <a:r>
              <a:rPr/>
              <a:t>spaziale</a:t>
            </a:r>
            <a:r>
              <a:rPr/>
              <a:t> </a:t>
            </a:r>
            <a:r>
              <a:rPr/>
              <a:t>capacity-matched</a:t>
            </a:r>
            <a:r>
              <a:rPr/>
              <a:t> </a:t>
            </a:r>
            <a:r>
              <a:rPr/>
              <a:t>migliorano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controllo</a:t>
            </a:r>
            <a:r>
              <a:rPr/>
              <a:t> </a:t>
            </a:r>
            <a:r>
              <a:rPr/>
              <a:t>current-only.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modello</a:t>
            </a:r>
            <a:r>
              <a:rPr/>
              <a:t> </a:t>
            </a:r>
            <a:r>
              <a:rPr/>
              <a:t>spaziale,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persino</a:t>
            </a:r>
            <a:r>
              <a:rPr/>
              <a:t> </a:t>
            </a:r>
            <a:r>
              <a:rPr/>
              <a:t>significativamente</a:t>
            </a:r>
            <a:r>
              <a:rPr/>
              <a:t> </a:t>
            </a:r>
            <a:r>
              <a:rPr/>
              <a:t>peggiore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anni</a:t>
            </a:r>
            <a:r>
              <a:rPr/>
              <a:t> </a:t>
            </a:r>
            <a:r>
              <a:rPr/>
              <a:t>nel</a:t>
            </a:r>
            <a:r>
              <a:rPr/>
              <a:t> </a:t>
            </a:r>
            <a:r>
              <a:rPr/>
              <a:t>bootstrap.</a:t>
            </a:r>
            <a:r>
              <a:rPr/>
              <a:t> </a:t>
            </a:r>
            <a:r>
              <a:rPr/>
              <a:t>Quindi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passato</a:t>
            </a:r>
            <a:r>
              <a:rPr/>
              <a:t> </a:t>
            </a:r>
            <a:r>
              <a:rPr/>
              <a:t>cambiamento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automaticamente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proxy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prossimo</a:t>
            </a:r>
            <a:r>
              <a:rPr/>
              <a:t> </a:t>
            </a:r>
            <a:r>
              <a:rPr/>
              <a:t>cambiamento</a:t>
            </a:r>
            <a:r>
              <a:rPr/>
              <a:t> </a:t>
            </a:r>
            <a:r>
              <a:rPr/>
              <a:t>oncologico.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L’ipotesi</a:t>
            </a:r>
            <a:r>
              <a:rPr/>
              <a:t> </a:t>
            </a:r>
            <a:r>
              <a:rPr/>
              <a:t>era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sottraessimo</a:t>
            </a:r>
            <a:r>
              <a:rPr/>
              <a:t> </a:t>
            </a:r>
            <a:r>
              <a:rPr/>
              <a:t>token</a:t>
            </a:r>
            <a:r>
              <a:rPr/>
              <a:t> </a:t>
            </a:r>
            <a:r>
              <a:rPr/>
              <a:t>anatomicamente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corrispondenti.</a:t>
            </a:r>
            <a:r>
              <a:rPr/>
              <a:t> </a:t>
            </a:r>
            <a:r>
              <a:rPr/>
              <a:t>L’audit</a:t>
            </a:r>
            <a:r>
              <a:rPr/>
              <a:t> </a:t>
            </a:r>
            <a:r>
              <a:rPr/>
              <a:t>su</a:t>
            </a:r>
            <a:r>
              <a:rPr/>
              <a:t> </a:t>
            </a:r>
            <a:r>
              <a:rPr/>
              <a:t>tutte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1.984</a:t>
            </a:r>
            <a:r>
              <a:rPr/>
              <a:t> </a:t>
            </a:r>
            <a:r>
              <a:rPr/>
              <a:t>coppie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supporta: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griglia</a:t>
            </a:r>
            <a:r>
              <a:rPr/>
              <a:t> </a:t>
            </a:r>
            <a:r>
              <a:rPr/>
              <a:t>4×4×4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fortemente</a:t>
            </a:r>
            <a:r>
              <a:rPr/>
              <a:t> </a:t>
            </a:r>
            <a:r>
              <a:rPr/>
              <a:t>stabile.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prova</a:t>
            </a:r>
            <a:r>
              <a:rPr/>
              <a:t> </a:t>
            </a:r>
            <a:r>
              <a:rPr/>
              <a:t>registrazione</a:t>
            </a:r>
            <a:r>
              <a:rPr/>
              <a:t> </a:t>
            </a:r>
            <a:r>
              <a:rPr/>
              <a:t>voxel-perfect,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rende</a:t>
            </a:r>
            <a:r>
              <a:rPr/>
              <a:t> </a:t>
            </a:r>
            <a:r>
              <a:rPr/>
              <a:t>improbabile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semplice</a:t>
            </a:r>
            <a:r>
              <a:rPr/>
              <a:t> </a:t>
            </a:r>
            <a:r>
              <a:rPr/>
              <a:t>shift</a:t>
            </a:r>
            <a:r>
              <a:rPr/>
              <a:t> </a:t>
            </a:r>
            <a:r>
              <a:rPr/>
              <a:t>della</a:t>
            </a:r>
            <a:r>
              <a:rPr/>
              <a:t> </a:t>
            </a:r>
            <a:r>
              <a:rPr/>
              <a:t>griglia</a:t>
            </a:r>
            <a:r>
              <a:rPr/>
              <a:t> </a:t>
            </a:r>
            <a:r>
              <a:rPr/>
              <a:t>sia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collo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bottiglia</a:t>
            </a:r>
            <a:r>
              <a:rPr/>
              <a:t> </a:t>
            </a:r>
            <a:r>
              <a:rPr/>
              <a:t>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Sintesi</a:t>
            </a:r>
            <a:r>
              <a:rPr/>
              <a:t> </a:t>
            </a:r>
            <a:r>
              <a:rPr/>
              <a:t>causale</a:t>
            </a:r>
            <a:r>
              <a:rPr/>
              <a:t> </a:t>
            </a:r>
            <a:r>
              <a:rPr/>
              <a:t>prudente.</a:t>
            </a:r>
            <a:r>
              <a:rPr/>
              <a:t> </a:t>
            </a:r>
            <a:r>
              <a:rPr/>
              <a:t>Sappiamo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COLIPRI</a:t>
            </a:r>
            <a:r>
              <a:rPr/>
              <a:t> </a:t>
            </a:r>
            <a:r>
              <a:rPr/>
              <a:t>vede</a:t>
            </a:r>
            <a:r>
              <a:rPr/>
              <a:t> </a:t>
            </a:r>
            <a:r>
              <a:rPr/>
              <a:t>lo</a:t>
            </a:r>
            <a:r>
              <a:rPr/>
              <a:t> </a:t>
            </a:r>
            <a:r>
              <a:rPr/>
              <a:t>stato</a:t>
            </a:r>
            <a:r>
              <a:rPr/>
              <a:t> </a:t>
            </a:r>
            <a:r>
              <a:rPr/>
              <a:t>clinico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prognostico.</a:t>
            </a:r>
            <a:r>
              <a:rPr/>
              <a:t> </a:t>
            </a:r>
            <a:r>
              <a:rPr/>
              <a:t>Sappiamo</a:t>
            </a:r>
            <a:r>
              <a:rPr/>
              <a:t> </a:t>
            </a:r>
            <a:r>
              <a:rPr/>
              <a:t>anche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scaling,</a:t>
            </a:r>
            <a:r>
              <a:rPr/>
              <a:t> </a:t>
            </a:r>
            <a:r>
              <a:rPr/>
              <a:t>PCA,</a:t>
            </a:r>
            <a:r>
              <a:rPr/>
              <a:t> </a:t>
            </a:r>
            <a:r>
              <a:rPr/>
              <a:t>adapter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allineamento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spiegano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soli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gap.</a:t>
            </a:r>
            <a:r>
              <a:rPr/>
              <a:t> </a:t>
            </a:r>
            <a:r>
              <a:rPr/>
              <a:t>L’ipotesi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coerente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sia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parte</a:t>
            </a:r>
            <a:r>
              <a:rPr/>
              <a:t> </a:t>
            </a:r>
            <a:r>
              <a:rPr/>
              <a:t>nuovo,</a:t>
            </a:r>
            <a:r>
              <a:rPr/>
              <a:t> </a:t>
            </a:r>
            <a:r>
              <a:rPr/>
              <a:t>focale,</a:t>
            </a:r>
            <a:r>
              <a:rPr/>
              <a:t> </a:t>
            </a:r>
            <a:r>
              <a:rPr/>
              <a:t>piccolo</a:t>
            </a:r>
            <a:r>
              <a:rPr/>
              <a:t> </a:t>
            </a:r>
            <a:r>
              <a:rPr/>
              <a:t>rispetto</a:t>
            </a:r>
            <a:r>
              <a:rPr/>
              <a:t> </a:t>
            </a:r>
            <a:r>
              <a:rPr/>
              <a:t>alla</a:t>
            </a:r>
            <a:r>
              <a:rPr/>
              <a:t> </a:t>
            </a:r>
            <a:r>
              <a:rPr/>
              <a:t>variabilità</a:t>
            </a:r>
            <a:r>
              <a:rPr/>
              <a:t> </a:t>
            </a:r>
            <a:r>
              <a:rPr/>
              <a:t>totale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vicino</a:t>
            </a:r>
            <a:r>
              <a:rPr/>
              <a:t> </a:t>
            </a:r>
            <a:r>
              <a:rPr/>
              <a:t>alla</a:t>
            </a:r>
            <a:r>
              <a:rPr/>
              <a:t> </a:t>
            </a:r>
            <a:r>
              <a:rPr/>
              <a:t>diagnosi.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proposta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passare</a:t>
            </a:r>
            <a:r>
              <a:rPr/>
              <a:t> </a:t>
            </a:r>
            <a:r>
              <a:rPr/>
              <a:t>subito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Transformer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grande.</a:t>
            </a:r>
            <a:r>
              <a:rPr/>
              <a:t> </a:t>
            </a:r>
            <a:r>
              <a:rPr/>
              <a:t>Prima</a:t>
            </a:r>
            <a:r>
              <a:rPr/>
              <a:t> </a:t>
            </a:r>
            <a:r>
              <a:rPr/>
              <a:t>occorre</a:t>
            </a:r>
            <a:r>
              <a:rPr/>
              <a:t> </a:t>
            </a:r>
            <a:r>
              <a:rPr/>
              <a:t>rendere</a:t>
            </a:r>
            <a:r>
              <a:rPr/>
              <a:t> </a:t>
            </a:r>
            <a:r>
              <a:rPr/>
              <a:t>prevedibile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target:</a:t>
            </a:r>
            <a:r>
              <a:rPr/>
              <a:t> </a:t>
            </a:r>
            <a:r>
              <a:rPr/>
              <a:t>ridurre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confondimento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round,</a:t>
            </a:r>
            <a:r>
              <a:rPr/>
              <a:t> </a:t>
            </a:r>
            <a:r>
              <a:rPr/>
              <a:t>separare</a:t>
            </a:r>
            <a:r>
              <a:rPr/>
              <a:t> </a:t>
            </a:r>
            <a:r>
              <a:rPr/>
              <a:t>segnali</a:t>
            </a:r>
            <a:r>
              <a:rPr/>
              <a:t> </a:t>
            </a:r>
            <a:r>
              <a:rPr/>
              <a:t>diagnosis-adjacent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focalizzare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rappresentazione</a:t>
            </a:r>
            <a:r>
              <a:rPr/>
              <a:t> </a:t>
            </a:r>
            <a:r>
              <a:rPr/>
              <a:t>sulle</a:t>
            </a:r>
            <a:r>
              <a:rPr/>
              <a:t> </a:t>
            </a:r>
            <a:r>
              <a:rPr/>
              <a:t>regioni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cambiano.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loss</a:t>
            </a:r>
            <a:r>
              <a:rPr/>
              <a:t> </a:t>
            </a:r>
            <a:r>
              <a:rPr/>
              <a:t>clinica</a:t>
            </a:r>
            <a:r>
              <a:rPr/>
              <a:t> </a:t>
            </a:r>
            <a:r>
              <a:rPr/>
              <a:t>può</a:t>
            </a:r>
            <a:r>
              <a:rPr/>
              <a:t> </a:t>
            </a:r>
            <a:r>
              <a:rPr/>
              <a:t>aiutare,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va</a:t>
            </a:r>
            <a:r>
              <a:rPr/>
              <a:t> </a:t>
            </a:r>
            <a:r>
              <a:rPr/>
              <a:t>trattata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supervised</a:t>
            </a:r>
            <a:r>
              <a:rPr/>
              <a:t> </a:t>
            </a:r>
            <a:r>
              <a:rPr/>
              <a:t>risk</a:t>
            </a:r>
            <a:r>
              <a:rPr/>
              <a:t> </a:t>
            </a:r>
            <a:r>
              <a:rPr/>
              <a:t>modeling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validata</a:t>
            </a:r>
            <a:r>
              <a:rPr/>
              <a:t> </a:t>
            </a:r>
            <a:r>
              <a:rPr/>
              <a:t>senza</a:t>
            </a:r>
            <a:r>
              <a:rPr/>
              <a:t> </a:t>
            </a:r>
            <a:r>
              <a:rPr/>
              <a:t>contaminare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1,5</a:t>
            </a:r>
            <a:r>
              <a:rPr/>
              <a:t> </a:t>
            </a:r>
            <a:r>
              <a:rPr/>
              <a:t>minuti.</a:t>
            </a:r>
            <a:r>
              <a:rPr/>
              <a:t> </a:t>
            </a:r>
            <a:r>
              <a:rPr/>
              <a:t>Chiudere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proposta</a:t>
            </a:r>
            <a:r>
              <a:rPr/>
              <a:t> </a:t>
            </a:r>
            <a:r>
              <a:rPr/>
              <a:t>operativa.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informativo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chiedere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storia</a:t>
            </a:r>
            <a:r>
              <a:rPr/>
              <a:t> </a:t>
            </a:r>
            <a:r>
              <a:rPr/>
              <a:t>locale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contiene</a:t>
            </a:r>
            <a:r>
              <a:rPr/>
              <a:t> </a:t>
            </a:r>
            <a:r>
              <a:rPr/>
              <a:t>segnale,</a:t>
            </a:r>
            <a:r>
              <a:rPr/>
              <a:t> </a:t>
            </a:r>
            <a:r>
              <a:rPr/>
              <a:t>usando</a:t>
            </a:r>
            <a:r>
              <a:rPr/>
              <a:t> </a:t>
            </a:r>
            <a:r>
              <a:rPr/>
              <a:t>endpoint</a:t>
            </a:r>
            <a:r>
              <a:rPr/>
              <a:t> </a:t>
            </a:r>
            <a:r>
              <a:rPr/>
              <a:t>meno</a:t>
            </a:r>
            <a:r>
              <a:rPr/>
              <a:t> </a:t>
            </a:r>
            <a:r>
              <a:rPr/>
              <a:t>contaminati</a:t>
            </a:r>
            <a:r>
              <a:rPr/>
              <a:t> </a:t>
            </a:r>
            <a:r>
              <a:rPr/>
              <a:t>dalla</a:t>
            </a:r>
            <a:r>
              <a:rPr/>
              <a:t> </a:t>
            </a:r>
            <a:r>
              <a:rPr/>
              <a:t>diagnosi</a:t>
            </a:r>
            <a:r>
              <a:rPr/>
              <a:t> </a:t>
            </a:r>
            <a:r>
              <a:rPr/>
              <a:t>imminente.</a:t>
            </a:r>
            <a:r>
              <a:rPr/>
              <a:t> </a:t>
            </a:r>
            <a:r>
              <a:rPr/>
              <a:t>Solo</a:t>
            </a:r>
            <a:r>
              <a:rPr/>
              <a:t> </a:t>
            </a:r>
            <a:r>
              <a:rPr/>
              <a:t>se</a:t>
            </a:r>
            <a:r>
              <a:rPr/>
              <a:t> </a:t>
            </a:r>
            <a:r>
              <a:rPr/>
              <a:t>questo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positivo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senso</a:t>
            </a:r>
            <a:r>
              <a:rPr/>
              <a:t> </a:t>
            </a:r>
            <a:r>
              <a:rPr/>
              <a:t>addestrare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locale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predire</a:t>
            </a:r>
            <a:r>
              <a:rPr/>
              <a:t> </a:t>
            </a:r>
            <a:r>
              <a:rPr/>
              <a:t>quelle</a:t>
            </a:r>
            <a:r>
              <a:rPr/>
              <a:t> </a:t>
            </a:r>
            <a:r>
              <a:rPr/>
              <a:t>componenti.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Questa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protegge</a:t>
            </a:r>
            <a:r>
              <a:rPr/>
              <a:t> </a:t>
            </a:r>
            <a:r>
              <a:rPr/>
              <a:t>l’interpretazione.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seed</a:t>
            </a:r>
            <a:r>
              <a:rPr/>
              <a:t> </a:t>
            </a:r>
            <a:r>
              <a:rPr/>
              <a:t>SD</a:t>
            </a:r>
            <a:r>
              <a:rPr/>
              <a:t> </a:t>
            </a:r>
            <a:r>
              <a:rPr/>
              <a:t>misurano</a:t>
            </a:r>
            <a:r>
              <a:rPr/>
              <a:t> </a:t>
            </a:r>
            <a:r>
              <a:rPr/>
              <a:t>variabilità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ottimizzazione,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incertezza</a:t>
            </a:r>
            <a:r>
              <a:rPr/>
              <a:t> </a:t>
            </a:r>
            <a:r>
              <a:rPr/>
              <a:t>sui</a:t>
            </a:r>
            <a:r>
              <a:rPr/>
              <a:t> </a:t>
            </a:r>
            <a:r>
              <a:rPr/>
              <a:t>pazienti.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claim</a:t>
            </a:r>
            <a:r>
              <a:rPr/>
              <a:t> </a:t>
            </a:r>
            <a:r>
              <a:rPr/>
              <a:t>futuri</a:t>
            </a:r>
            <a:r>
              <a:rPr/>
              <a:t> </a:t>
            </a:r>
            <a:r>
              <a:rPr/>
              <a:t>servono</a:t>
            </a:r>
            <a:r>
              <a:rPr/>
              <a:t> </a:t>
            </a:r>
            <a:r>
              <a:rPr/>
              <a:t>bootstrap</a:t>
            </a:r>
            <a:r>
              <a:rPr/>
              <a:t> </a:t>
            </a:r>
            <a:r>
              <a:rPr/>
              <a:t>paired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una</a:t>
            </a:r>
            <a:r>
              <a:rPr/>
              <a:t> </a:t>
            </a:r>
            <a:r>
              <a:rPr/>
              <a:t>coorte</a:t>
            </a:r>
            <a:r>
              <a:rPr/>
              <a:t> </a:t>
            </a:r>
            <a:r>
              <a:rPr/>
              <a:t>esterna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utilizzata</a:t>
            </a:r>
            <a:r>
              <a:rPr/>
              <a:t> </a:t>
            </a:r>
            <a:r>
              <a:rPr/>
              <a:t>nello</a:t>
            </a:r>
            <a:r>
              <a:rPr/>
              <a:t> </a:t>
            </a:r>
            <a:r>
              <a:rPr/>
              <a:t>sviluppo.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Tempo: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minuto.</a:t>
            </a:r>
            <a:r>
              <a:rPr/>
              <a:t> </a:t>
            </a:r>
            <a:r>
              <a:rPr/>
              <a:t>Frase</a:t>
            </a:r>
            <a:r>
              <a:rPr/>
              <a:t> </a:t>
            </a:r>
            <a:r>
              <a:rPr/>
              <a:t>finale:</a:t>
            </a:r>
            <a:r>
              <a:rPr/>
              <a:t> </a:t>
            </a:r>
            <a:r>
              <a:rPr/>
              <a:t>“</a:t>
            </a:r>
            <a:r>
              <a:rPr/>
              <a:t>Il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utile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sapere</a:t>
            </a:r>
            <a:r>
              <a:rPr/>
              <a:t> </a:t>
            </a:r>
            <a:r>
              <a:rPr/>
              <a:t>dove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investire: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aumenterei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profondità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Transformer</a:t>
            </a:r>
            <a:r>
              <a:rPr/>
              <a:t> </a:t>
            </a:r>
            <a:r>
              <a:rPr/>
              <a:t>finché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dimostriamo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cambiamento</a:t>
            </a:r>
            <a:r>
              <a:rPr/>
              <a:t> </a:t>
            </a:r>
            <a:r>
              <a:rPr/>
              <a:t>locale</a:t>
            </a:r>
            <a:r>
              <a:rPr/>
              <a:t> </a:t>
            </a:r>
            <a:r>
              <a:rPr/>
              <a:t>osservato</a:t>
            </a:r>
            <a:r>
              <a:rPr/>
              <a:t> </a:t>
            </a:r>
            <a:r>
              <a:rPr/>
              <a:t>contiene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segnale</a:t>
            </a:r>
            <a:r>
              <a:rPr/>
              <a:t> </a:t>
            </a:r>
            <a:r>
              <a:rPr/>
              <a:t>prognostico</a:t>
            </a:r>
            <a:r>
              <a:rPr/>
              <a:t> </a:t>
            </a:r>
            <a:r>
              <a:rPr/>
              <a:t>riproducibile.</a:t>
            </a:r>
            <a:r>
              <a:rPr/>
              <a:t>”</a:t>
            </a:r>
            <a:r>
              <a:rPr/>
              <a:t> </a:t>
            </a:r>
            <a:r>
              <a:rPr/>
              <a:t>Aprire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discussione</a:t>
            </a:r>
            <a:r>
              <a:rPr/>
              <a:t> </a:t>
            </a:r>
            <a:r>
              <a:rPr/>
              <a:t>sulle</a:t>
            </a:r>
            <a:r>
              <a:rPr/>
              <a:t> </a:t>
            </a:r>
            <a:r>
              <a:rPr/>
              <a:t>priorità.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backup.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numeri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standardizzato</a:t>
            </a:r>
            <a:r>
              <a:rPr/>
              <a:t> </a:t>
            </a:r>
            <a:r>
              <a:rPr/>
              <a:t>usano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protocollo</a:t>
            </a:r>
            <a:r>
              <a:rPr/>
              <a:t> </a:t>
            </a:r>
            <a:r>
              <a:rPr/>
              <a:t>storico</a:t>
            </a:r>
            <a:r>
              <a:rPr/>
              <a:t> </a:t>
            </a:r>
            <a:r>
              <a:rPr/>
              <a:t>dell’ablation;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valori</a:t>
            </a:r>
            <a:r>
              <a:rPr/>
              <a:t> </a:t>
            </a:r>
            <a:r>
              <a:rPr/>
              <a:t>canonici</a:t>
            </a:r>
            <a:r>
              <a:rPr/>
              <a:t> </a:t>
            </a:r>
            <a:r>
              <a:rPr/>
              <a:t>current/future</a:t>
            </a:r>
            <a:r>
              <a:rPr/>
              <a:t> </a:t>
            </a:r>
            <a:r>
              <a:rPr/>
              <a:t>nella</a:t>
            </a:r>
            <a:r>
              <a:rPr/>
              <a:t> </a:t>
            </a:r>
            <a:r>
              <a:rPr/>
              <a:t>presentazione</a:t>
            </a:r>
            <a:r>
              <a:rPr/>
              <a:t> </a:t>
            </a:r>
            <a:r>
              <a:rPr/>
              <a:t>usano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recente</a:t>
            </a:r>
            <a:r>
              <a:rPr/>
              <a:t> </a:t>
            </a:r>
            <a:r>
              <a:rPr/>
              <a:t>protocollo</a:t>
            </a:r>
            <a:r>
              <a:rPr/>
              <a:t> </a:t>
            </a:r>
            <a:r>
              <a:rPr/>
              <a:t>matched</a:t>
            </a:r>
            <a:r>
              <a:rPr/>
              <a:t> </a:t>
            </a:r>
            <a:r>
              <a:rPr/>
              <a:t>corretto.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piccole</a:t>
            </a:r>
            <a:r>
              <a:rPr/>
              <a:t> </a:t>
            </a:r>
            <a:r>
              <a:rPr/>
              <a:t>differenze</a:t>
            </a:r>
            <a:r>
              <a:rPr/>
              <a:t> </a:t>
            </a:r>
            <a:r>
              <a:rPr/>
              <a:t>fra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derivano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dettagli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probe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cambiano</a:t>
            </a:r>
            <a:r>
              <a:rPr/>
              <a:t> </a:t>
            </a:r>
            <a:r>
              <a:rPr/>
              <a:t>le</a:t>
            </a:r>
            <a:r>
              <a:rPr/>
              <a:t> </a:t>
            </a:r>
            <a:r>
              <a:rPr/>
              <a:t>conclusioni.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backup.</a:t>
            </a:r>
            <a:r>
              <a:rPr/>
              <a:t> </a:t>
            </a:r>
            <a:r>
              <a:rPr/>
              <a:t>Citare</a:t>
            </a:r>
            <a:r>
              <a:rPr/>
              <a:t> </a:t>
            </a:r>
            <a:r>
              <a:rPr/>
              <a:t>l’audit</a:t>
            </a:r>
            <a:r>
              <a:rPr/>
              <a:t> </a:t>
            </a:r>
            <a:r>
              <a:rPr/>
              <a:t>che</a:t>
            </a:r>
            <a:r>
              <a:rPr/>
              <a:t> </a:t>
            </a:r>
            <a:r>
              <a:rPr/>
              <a:t>ha</a:t>
            </a:r>
            <a:r>
              <a:rPr/>
              <a:t> </a:t>
            </a:r>
            <a:r>
              <a:rPr/>
              <a:t>trovato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bug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allineamento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prova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valore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questi</a:t>
            </a:r>
            <a:r>
              <a:rPr/>
              <a:t> </a:t>
            </a:r>
            <a:r>
              <a:rPr/>
              <a:t>controlli.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risultati</a:t>
            </a:r>
            <a:r>
              <a:rPr/>
              <a:t> </a:t>
            </a:r>
            <a:r>
              <a:rPr/>
              <a:t>principali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riproducibili</a:t>
            </a:r>
            <a:r>
              <a:rPr/>
              <a:t> </a:t>
            </a:r>
            <a:r>
              <a:rPr/>
              <a:t>dagli</a:t>
            </a:r>
            <a:r>
              <a:rPr/>
              <a:t> </a:t>
            </a:r>
            <a:r>
              <a:rPr/>
              <a:t>artefatti</a:t>
            </a:r>
            <a:r>
              <a:rPr/>
              <a:t> </a:t>
            </a:r>
            <a:r>
              <a:rPr/>
              <a:t>locali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dai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W&amp;B,</a:t>
            </a:r>
            <a:r>
              <a:rPr/>
              <a:t> </a:t>
            </a:r>
            <a:r>
              <a:rPr/>
              <a:t>ma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presentazione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dipende</a:t>
            </a:r>
            <a:r>
              <a:rPr/>
              <a:t> </a:t>
            </a:r>
            <a:r>
              <a:rPr/>
              <a:t>dalla</a:t>
            </a:r>
            <a:r>
              <a:rPr/>
              <a:t> </a:t>
            </a:r>
            <a:r>
              <a:rPr/>
              <a:t>disponibilità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W&amp;B.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backup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domande</a:t>
            </a:r>
            <a:r>
              <a:rPr/>
              <a:t> </a:t>
            </a:r>
            <a:r>
              <a:rPr/>
              <a:t>sulla</a:t>
            </a:r>
            <a:r>
              <a:rPr/>
              <a:t> </a:t>
            </a:r>
            <a:r>
              <a:rPr/>
              <a:t>provenienza.</a:t>
            </a:r>
            <a:r>
              <a:rPr/>
              <a:t> </a:t>
            </a:r>
            <a:r>
              <a:rPr/>
              <a:t>Ogni</a:t>
            </a:r>
            <a:r>
              <a:rPr/>
              <a:t> </a:t>
            </a:r>
            <a:r>
              <a:rPr/>
              <a:t>tabella</a:t>
            </a:r>
            <a:r>
              <a:rPr/>
              <a:t> </a:t>
            </a:r>
            <a:r>
              <a:rPr/>
              <a:t>della</a:t>
            </a:r>
            <a:r>
              <a:rPr/>
              <a:t> </a:t>
            </a:r>
            <a:r>
              <a:rPr/>
              <a:t>presentazione</a:t>
            </a:r>
            <a:r>
              <a:rPr/>
              <a:t> </a:t>
            </a:r>
            <a:r>
              <a:rPr/>
              <a:t>deriva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uno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questi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completati;</a:t>
            </a:r>
            <a:r>
              <a:rPr/>
              <a:t> </a:t>
            </a:r>
            <a:r>
              <a:rPr/>
              <a:t>non</a:t>
            </a:r>
            <a:r>
              <a:rPr/>
              <a:t> </a:t>
            </a:r>
            <a:r>
              <a:rPr/>
              <a:t>sono</a:t>
            </a:r>
            <a:r>
              <a:rPr/>
              <a:t> </a:t>
            </a:r>
            <a:r>
              <a:rPr/>
              <a:t>state</a:t>
            </a:r>
            <a:r>
              <a:rPr/>
              <a:t> </a:t>
            </a:r>
            <a:r>
              <a:rPr/>
              <a:t>effettuate</a:t>
            </a:r>
            <a:r>
              <a:rPr/>
              <a:t> </a:t>
            </a:r>
            <a:r>
              <a:rPr/>
              <a:t>nuove</a:t>
            </a:r>
            <a:r>
              <a:rPr/>
              <a:t> </a:t>
            </a:r>
            <a:r>
              <a:rPr/>
              <a:t>analisi</a:t>
            </a:r>
            <a:r>
              <a:rPr/>
              <a:t> </a:t>
            </a:r>
            <a:r>
              <a:rPr/>
              <a:t>statistiche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.png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.png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6.png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7.png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8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9.png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10.png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11.png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Dal</a:t>
            </a:r>
            <a:r>
              <a:rPr/>
              <a:t> </a:t>
            </a:r>
            <a:r>
              <a:rPr/>
              <a:t>CT</a:t>
            </a:r>
            <a:r>
              <a:rPr/>
              <a:t> </a:t>
            </a:r>
            <a:r>
              <a:rPr/>
              <a:t>longitudinale</a:t>
            </a:r>
            <a:r>
              <a:rPr/>
              <a:t> </a:t>
            </a:r>
            <a:r>
              <a:rPr/>
              <a:t>al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latente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Dataset</a:t>
            </a:r>
            <a:r>
              <a:rPr/>
              <a:t> </a:t>
            </a:r>
            <a:r>
              <a:rPr/>
              <a:t>NLST,</a:t>
            </a:r>
            <a:r>
              <a:rPr/>
              <a:t> </a:t>
            </a:r>
            <a:r>
              <a:rPr/>
              <a:t>foundation</a:t>
            </a:r>
            <a:r>
              <a:rPr/>
              <a:t> </a:t>
            </a:r>
            <a:r>
              <a:rPr/>
              <a:t>model,</a:t>
            </a:r>
            <a:r>
              <a:rPr/>
              <a:t> </a:t>
            </a:r>
            <a:r>
              <a:rPr/>
              <a:t>prognosi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COLIPRI</a:t>
            </a:r>
            <a:br/>
            <a:br/>
            <a:r>
              <a:rPr/>
              <a:t>Riunione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progetto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23</a:t>
            </a:r>
            <a:r>
              <a:rPr/>
              <a:t> </a:t>
            </a:r>
            <a:r>
              <a:rPr/>
              <a:t>settembre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Messaggio</a:t>
            </a:r>
            <a:r>
              <a:rPr/>
              <a:t> </a:t>
            </a:r>
            <a:r>
              <a:rPr/>
              <a:t>principale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COLIPRI contiene informazione clinica forte e accessibile con probe semplici.</a:t>
            </a:r>
          </a:p>
          <a:p>
            <a:pPr lvl="1"/>
            <a:r>
              <a:rPr/>
              <a:t>Il </a:t>
            </a:r>
            <a:r>
              <a:rPr b="1"/>
              <a:t>futuro reale</a:t>
            </a:r>
            <a:r>
              <a:rPr/>
              <a:t> è molto più prognostico dello stato corrente, soprattutto a 1–2 anni.</a:t>
            </a:r>
          </a:p>
          <a:p>
            <a:pPr lvl="1"/>
            <a:r>
              <a:rPr/>
              <a:t>I world model ricostruiscono una parte del cambiamento, ma recuperano solo una piccola parte del vantaggio prognostico.</a:t>
            </a:r>
          </a:p>
          <a:p>
            <a:pPr lvl="1"/>
            <a:r>
              <a:rPr/>
              <a:t>L’evidenza punta verso un limite di </a:t>
            </a:r>
            <a:r>
              <a:rPr b="1"/>
              <a:t>segnale/dati/target</a:t>
            </a:r>
            <a:r>
              <a:rPr/>
              <a:t>, non verso una semplice mancanza di capacità architetturale.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Il</a:t>
            </a:r>
            <a:r>
              <a:rPr/>
              <a:t> </a:t>
            </a:r>
            <a:r>
              <a:rPr/>
              <a:t>percorso</a:t>
            </a:r>
            <a:r>
              <a:rPr/>
              <a:t> </a:t>
            </a:r>
            <a:r>
              <a:rPr/>
              <a:t>sperimentale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Costruire una coorte longitudinale affidabile e label landmark-safe.</a:t>
            </a:r>
          </a:p>
          <a:p>
            <a:pPr lvl="1">
              <a:buAutoNum type="arabicPeriod"/>
            </a:pPr>
            <a:r>
              <a:rPr/>
              <a:t>Verificare quali foundation model producono stati clinicamente decodificabili.</a:t>
            </a:r>
          </a:p>
          <a:p>
            <a:pPr lvl="1">
              <a:buAutoNum type="arabicPeriod"/>
            </a:pPr>
            <a:r>
              <a:rPr/>
              <a:t>Misurare l’upper bound: presente osservato vs futuro osservato.</a:t>
            </a:r>
          </a:p>
          <a:p>
            <a:pPr lvl="1">
              <a:buAutoNum type="arabicPeriod"/>
            </a:pPr>
            <a:r>
              <a:rPr/>
              <a:t>Predire il futuro latente con modelli piccoli e controllati.</a:t>
            </a:r>
          </a:p>
          <a:p>
            <a:pPr lvl="1">
              <a:buAutoNum type="arabicPeriod"/>
            </a:pPr>
            <a:r>
              <a:rPr/>
              <a:t>Separare ricostruzione, conservazione dell’informazione e valore della storia.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Dataset:</a:t>
            </a:r>
            <a:r>
              <a:rPr/>
              <a:t> </a:t>
            </a:r>
            <a:r>
              <a:rPr/>
              <a:t>coorte</a:t>
            </a:r>
            <a:r>
              <a:rPr/>
              <a:t> </a:t>
            </a:r>
            <a:r>
              <a:rPr/>
              <a:t>NLST</a:t>
            </a:r>
            <a:r>
              <a:rPr/>
              <a:t> </a:t>
            </a:r>
            <a:r>
              <a:rPr/>
              <a:t>selezionata</a:t>
            </a:r>
          </a:p>
        </p:txBody>
      </p:sp>
      <p:pic>
        <p:nvPicPr>
          <p:cNvPr descr="presentation_assets/cohort_flow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3368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Costruzione</a:t>
            </a:r>
            <a:r>
              <a:rPr/>
              <a:t> </a:t>
            </a:r>
            <a:r>
              <a:rPr/>
              <a:t>dei</a:t>
            </a:r>
            <a:r>
              <a:rPr/>
              <a:t> </a:t>
            </a:r>
            <a:r>
              <a:rPr/>
              <a:t>dati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controllo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Split fisso a livello paziente: </a:t>
            </a:r>
            <a:r>
              <a:rPr b="1"/>
              <a:t>599 / 200 / 200</a:t>
            </a:r>
            <a:r>
              <a:rPr/>
              <a:t>.</a:t>
            </a:r>
          </a:p>
          <a:p>
            <a:pPr lvl="1"/>
            <a:r>
              <a:rPr/>
              <a:t>Tutte le normalizzazioni, PCA e statistiche dei delta sono fit solo sul train.</a:t>
            </a:r>
          </a:p>
          <a:p>
            <a:pPr lvl="1"/>
            <a:r>
              <a:rPr/>
              <a:t>Stesse coppie e stessi pazienti per i confronti fra rappresentazioni.</a:t>
            </a:r>
          </a:p>
          <a:p>
            <a:pPr lvl="1"/>
            <a:r>
              <a:rPr/>
              <a:t>Encoder congelati; checkpoint selezionati solo su validation.</a:t>
            </a:r>
          </a:p>
          <a:p>
            <a:pPr lvl="1"/>
            <a:r>
              <a:rPr/>
              <a:t>Il test è già stato ispezionato: non è validazione esterna.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Label</a:t>
            </a:r>
            <a:r>
              <a:rPr/>
              <a:t> </a:t>
            </a:r>
            <a:r>
              <a:rPr/>
              <a:t>diagnostiche:</a:t>
            </a:r>
            <a:r>
              <a:rPr/>
              <a:t> </a:t>
            </a:r>
            <a:r>
              <a:rPr/>
              <a:t>stato</a:t>
            </a:r>
            <a:r>
              <a:rPr/>
              <a:t> </a:t>
            </a:r>
            <a:r>
              <a:rPr/>
              <a:t>osservato</a:t>
            </a:r>
            <a:r>
              <a:rPr/>
              <a:t> </a:t>
            </a:r>
            <a:r>
              <a:rPr/>
              <a:t>nella</a:t>
            </a:r>
            <a:r>
              <a:rPr/>
              <a:t> </a:t>
            </a:r>
            <a:r>
              <a:rPr/>
              <a:t>scansione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Derivate dai metadati NLST di lettura radiologica e anomalie CT:</a:t>
            </a:r>
          </a:p>
          <a:p>
            <a:pPr lvl="1"/>
            <a:r>
              <a:rPr>
                <a:latin typeface="Courier"/>
              </a:rPr>
              <a:t>isolation_suspicious</a:t>
            </a:r>
            <a:r>
              <a:rPr/>
              <a:t> — prevalenza 39,0%</a:t>
            </a:r>
          </a:p>
          <a:p>
            <a:pPr lvl="1"/>
            <a:r>
              <a:rPr>
                <a:latin typeface="Courier"/>
              </a:rPr>
              <a:t>nodule_ge_4mm</a:t>
            </a:r>
            <a:r>
              <a:rPr/>
              <a:t> — 38,8%</a:t>
            </a:r>
          </a:p>
          <a:p>
            <a:pPr lvl="1"/>
            <a:r>
              <a:rPr>
                <a:latin typeface="Courier"/>
              </a:rPr>
              <a:t>emphysema</a:t>
            </a:r>
            <a:r>
              <a:rPr/>
              <a:t> — 41,5%</a:t>
            </a:r>
          </a:p>
          <a:p>
            <a:pPr lvl="1"/>
            <a:r>
              <a:rPr>
                <a:latin typeface="Courier"/>
              </a:rPr>
              <a:t>fibrosis_or_scarring</a:t>
            </a:r>
            <a:r>
              <a:rPr/>
              <a:t> — 25,1%</a:t>
            </a:r>
          </a:p>
          <a:p>
            <a:pPr lvl="0" marL="0" indent="0">
              <a:buNone/>
            </a:pPr>
            <a:r>
              <a:rPr/>
              <a:t>Uso nel progetto:</a:t>
            </a:r>
          </a:p>
          <a:p>
            <a:pPr lvl="1"/>
            <a:r>
              <a:rPr/>
              <a:t>validare la qualità della rappresentazione congelata;</a:t>
            </a:r>
          </a:p>
          <a:p>
            <a:pPr lvl="1"/>
            <a:r>
              <a:rPr/>
              <a:t>misurare il recupero futuro contro la </a:t>
            </a:r>
            <a:r>
              <a:rPr b="1"/>
              <a:t>stessa label t+1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Label</a:t>
            </a:r>
            <a:r>
              <a:rPr/>
              <a:t> </a:t>
            </a:r>
            <a:r>
              <a:rPr/>
              <a:t>prognostiche:</a:t>
            </a:r>
            <a:r>
              <a:rPr/>
              <a:t> </a:t>
            </a:r>
            <a:r>
              <a:rPr/>
              <a:t>landmark</a:t>
            </a:r>
            <a:r>
              <a:rPr/>
              <a:t> </a:t>
            </a:r>
            <a:r>
              <a:rPr/>
              <a:t>dopo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scansione</a:t>
            </a:r>
          </a:p>
        </p:txBody>
      </p:sp>
      <p:pic>
        <p:nvPicPr>
          <p:cNvPr descr="presentation_assets/label_time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298700"/>
            <a:ext cx="82296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Distribuzione</a:t>
            </a:r>
            <a:r>
              <a:rPr/>
              <a:t> </a:t>
            </a:r>
            <a:r>
              <a:rPr/>
              <a:t>delle</a:t>
            </a:r>
            <a:r>
              <a:rPr/>
              <a:t> </a:t>
            </a:r>
            <a:r>
              <a:rPr/>
              <a:t>classi: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nodo</a:t>
            </a:r>
            <a:r>
              <a:rPr/>
              <a:t> </a:t>
            </a:r>
            <a:r>
              <a:rPr/>
              <a:t>temporale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Endpoint</a:t>
                      </a:r>
                      <a:r>
                        <a:rPr/>
                        <a:t> </a:t>
                      </a:r>
                      <a:r>
                        <a:rPr/>
                        <a:t>post-t+1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anno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107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1.186</a:t>
                      </a:r>
                      <a:r>
                        <a:rPr/>
                        <a:t> </a:t>
                      </a:r>
                      <a:r>
                        <a:rPr/>
                        <a:t>(9,0%)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33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394</a:t>
                      </a:r>
                      <a:r>
                        <a:rPr/>
                        <a:t> </a:t>
                      </a:r>
                      <a:r>
                        <a:rPr/>
                        <a:t>(8,4%)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31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396</a:t>
                      </a:r>
                      <a:r>
                        <a:rPr/>
                        <a:t> </a:t>
                      </a:r>
                      <a:r>
                        <a:rPr/>
                        <a:t>(7,8%)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anni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256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1.181</a:t>
                      </a:r>
                      <a:r>
                        <a:rPr/>
                        <a:t> </a:t>
                      </a:r>
                      <a:r>
                        <a:rPr/>
                        <a:t>(21,7%)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81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391</a:t>
                      </a:r>
                      <a:r>
                        <a:rPr/>
                        <a:t> </a:t>
                      </a:r>
                      <a:r>
                        <a:rPr/>
                        <a:t>(20,7%)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75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396</a:t>
                      </a:r>
                      <a:r>
                        <a:rPr/>
                        <a:t> </a:t>
                      </a:r>
                      <a:r>
                        <a:rPr/>
                        <a:t>(18,9%)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anni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364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1.173</a:t>
                      </a:r>
                      <a:r>
                        <a:rPr/>
                        <a:t> </a:t>
                      </a:r>
                      <a:r>
                        <a:rPr/>
                        <a:t>(31,0%)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112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389</a:t>
                      </a:r>
                      <a:r>
                        <a:rPr/>
                        <a:t> </a:t>
                      </a:r>
                      <a:r>
                        <a:rPr/>
                        <a:t>(28,8%)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113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396</a:t>
                      </a:r>
                      <a:r>
                        <a:rPr/>
                        <a:t> </a:t>
                      </a:r>
                      <a:r>
                        <a:rPr/>
                        <a:t>(28,5%)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Foundation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esplorati</a:t>
            </a:r>
          </a:p>
        </p:txBody>
      </p:sp>
      <p:pic>
        <p:nvPicPr>
          <p:cNvPr descr="presentation_assets/foundation_model_comparis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095500"/>
            <a:ext cx="8229600" cy="354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Rad-JEPA-3D:</a:t>
            </a:r>
            <a:r>
              <a:rPr/>
              <a:t> </a:t>
            </a:r>
            <a:r>
              <a:rPr/>
              <a:t>primo</a:t>
            </a:r>
            <a:r>
              <a:rPr/>
              <a:t> </a:t>
            </a:r>
            <a:r>
              <a:rPr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Input a finestre 3D da 32 slice; feature token da 384 dimensioni.</a:t>
            </a:r>
          </a:p>
          <a:p>
            <a:pPr lvl="1"/>
            <a:r>
              <a:rPr/>
              <a:t>Aggregazioni: resize, sliding mean/max/mean-max, gated attention.</a:t>
            </a:r>
          </a:p>
          <a:p>
            <a:pPr lvl="1"/>
            <a:r>
              <a:rPr/>
              <a:t>100 run complessivi, split e scaling train-only.</a:t>
            </a:r>
          </a:p>
          <a:p>
            <a:pPr lvl="1"/>
            <a:r>
              <a:rPr/>
              <a:t>Risultato: sospetto e nodulo ≈ chance; segnale debole per enfisema e fibrosi.</a:t>
            </a:r>
          </a:p>
          <a:p>
            <a:pPr lvl="1"/>
            <a:r>
              <a:rPr/>
              <a:t>Migliori AUROC: </a:t>
            </a:r>
            <a:r>
              <a:rPr b="1"/>
              <a:t>0,508 / 0,506 / 0,555 / 0,564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TANGERINE:</a:t>
            </a:r>
            <a:r>
              <a:rPr/>
              <a:t> </a:t>
            </a:r>
            <a:r>
              <a:rPr/>
              <a:t>salto</a:t>
            </a:r>
            <a:r>
              <a:rPr/>
              <a:t> </a:t>
            </a:r>
            <a:r>
              <a:rPr/>
              <a:t>parziale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ViT-L, volume 256³, 4.096 patch token, embedding globale 2.048-d.</a:t>
            </a:r>
          </a:p>
          <a:p>
            <a:pPr lvl="1"/>
            <a:r>
              <a:rPr/>
              <a:t>Miglioramento netto per enfisema: AUROC </a:t>
            </a:r>
            <a:r>
              <a:rPr b="1"/>
              <a:t>0,700</a:t>
            </a:r>
            <a:r>
              <a:rPr/>
              <a:t>.</a:t>
            </a:r>
          </a:p>
          <a:p>
            <a:pPr lvl="1"/>
            <a:r>
              <a:rPr/>
              <a:t>Miglioramento moderato per fibrosi: </a:t>
            </a:r>
            <a:r>
              <a:rPr b="1"/>
              <a:t>0,603</a:t>
            </a:r>
            <a:r>
              <a:rPr/>
              <a:t>.</a:t>
            </a:r>
          </a:p>
          <a:p>
            <a:pPr lvl="1"/>
            <a:r>
              <a:rPr/>
              <a:t>Sospetto e nodulo restano deboli: </a:t>
            </a:r>
            <a:r>
              <a:rPr b="1"/>
              <a:t>0,542 / 0,528</a:t>
            </a:r>
            <a:r>
              <a:rPr/>
              <a:t>.</a:t>
            </a:r>
          </a:p>
          <a:p>
            <a:pPr lvl="1"/>
            <a:r>
              <a:rPr/>
              <a:t>MLP downstream non migliore del probe lineare.</a:t>
            </a:r>
          </a:p>
          <a:p>
            <a:pPr lvl="1"/>
            <a:r>
              <a:rPr/>
              <a:t>Caveat: pretraining NLST-LSS; overlap esatto ignoto.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Perché</a:t>
            </a:r>
            <a:r>
              <a:rPr/>
              <a:t> </a:t>
            </a:r>
            <a:r>
              <a:rPr/>
              <a:t>abbiamo</a:t>
            </a:r>
            <a:r>
              <a:rPr/>
              <a:t> </a:t>
            </a:r>
            <a:r>
              <a:rPr/>
              <a:t>scelto</a:t>
            </a:r>
            <a:r>
              <a:rPr/>
              <a:t> </a:t>
            </a:r>
            <a:r>
              <a:rPr/>
              <a:t>COLIPRI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Dense feature grid nativa: </a:t>
            </a:r>
            <a:r>
              <a:rPr>
                <a:latin typeface="Courier"/>
              </a:rPr>
              <a:t>[24,24,24,864]</a:t>
            </a:r>
            <a:r>
              <a:rPr/>
              <a:t>.</a:t>
            </a:r>
          </a:p>
          <a:p>
            <a:pPr lvl="1"/>
            <a:r>
              <a:rPr/>
              <a:t>Preprocessing ufficiale: RAS, 2 mm isotropico, crop/pad 192³.</a:t>
            </a:r>
          </a:p>
          <a:p>
            <a:pPr lvl="1"/>
            <a:r>
              <a:rPr/>
              <a:t>Mean pooling 864-d è il miglior aggregatore diagnostico.</a:t>
            </a:r>
          </a:p>
          <a:p>
            <a:pPr lvl="1"/>
            <a:r>
              <a:rPr/>
              <a:t>AUROC: sospetto </a:t>
            </a:r>
            <a:r>
              <a:rPr b="1"/>
              <a:t>0,795</a:t>
            </a:r>
            <a:r>
              <a:rPr/>
              <a:t>, nodulo </a:t>
            </a:r>
            <a:r>
              <a:rPr b="1"/>
              <a:t>0,788</a:t>
            </a:r>
            <a:r>
              <a:rPr/>
              <a:t>, enfisema </a:t>
            </a:r>
            <a:r>
              <a:rPr b="1"/>
              <a:t>0,752</a:t>
            </a:r>
            <a:r>
              <a:rPr/>
              <a:t>, fibrosi </a:t>
            </a:r>
            <a:r>
              <a:rPr b="1"/>
              <a:t>0,679</a:t>
            </a:r>
            <a:r>
              <a:rPr/>
              <a:t>.</a:t>
            </a:r>
          </a:p>
          <a:p>
            <a:pPr lvl="1"/>
            <a:r>
              <a:rPr/>
              <a:t>Offre sia uno stato globale compatto sia token spaziali per esperimenti successivi.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costruita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rappresentazione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volume</a:t>
            </a:r>
          </a:p>
        </p:txBody>
      </p:sp>
      <p:pic>
        <p:nvPicPr>
          <p:cNvPr descr="presentation_assets/colipri_representa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298700"/>
            <a:ext cx="82296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Esperimento</a:t>
            </a:r>
            <a:r>
              <a:rPr/>
              <a:t> </a:t>
            </a:r>
            <a:r>
              <a:rPr/>
              <a:t>chiave:</a:t>
            </a:r>
            <a:r>
              <a:rPr/>
              <a:t> </a:t>
            </a:r>
            <a:r>
              <a:rPr/>
              <a:t>il</a:t>
            </a:r>
            <a:r>
              <a:rPr/>
              <a:t> </a:t>
            </a:r>
            <a:r>
              <a:rPr/>
              <a:t>futuro</a:t>
            </a:r>
            <a:r>
              <a:rPr/>
              <a:t> </a:t>
            </a:r>
            <a:r>
              <a:rPr/>
              <a:t>reale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prognostico?</a:t>
            </a:r>
          </a:p>
        </p:txBody>
      </p:sp>
      <p:pic>
        <p:nvPicPr>
          <p:cNvPr descr="presentation_assets/oracle_g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778000"/>
            <a:ext cx="82296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Domanda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/>
              <a:t>Possiamo trasformare lo stato corrente in uno stato futuro predetto che sia più prognostico, senza usare label cliniche nel training della transizione?</a:t>
            </a:r>
          </a:p>
          <a:p>
            <a:pPr lvl="0" marL="0" indent="0">
              <a:buNone/>
            </a:pPr>
            <a:r>
              <a:rPr/>
              <a:t>Confronto primario: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zₜ  →  ẑₜ₊₁  →  zₜ₊₁ reale</a:t>
            </a:r>
          </a:p>
          <a:p>
            <a:pPr lvl="1"/>
            <a:r>
              <a:rPr/>
              <a:t>forecasting latente: MSE, cosine, L2, delta cosine;</a:t>
            </a:r>
          </a:p>
          <a:p>
            <a:pPr lvl="1"/>
            <a:r>
              <a:rPr/>
              <a:t>prognosi: AUROC, AUPRC, MCC, F1 a 1/2/3 anni;</a:t>
            </a:r>
          </a:p>
          <a:p>
            <a:pPr lvl="1"/>
            <a:r>
              <a:rPr/>
              <a:t>diagnosi futura: quattro target contro le stesse label t+1.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Prima</a:t>
            </a:r>
            <a:r>
              <a:rPr/>
              <a:t> </a:t>
            </a:r>
            <a:r>
              <a:rPr/>
              <a:t>architettura:</a:t>
            </a:r>
            <a:r>
              <a:rPr/>
              <a:t> </a:t>
            </a:r>
            <a:r>
              <a:rPr/>
              <a:t>residual</a:t>
            </a:r>
            <a:r>
              <a:rPr/>
              <a:t> </a:t>
            </a:r>
            <a:r>
              <a:rPr/>
              <a:t>MLP</a:t>
            </a:r>
          </a:p>
        </p:txBody>
      </p:sp>
      <p:pic>
        <p:nvPicPr>
          <p:cNvPr descr="presentation_assets/world_model_architectur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032000"/>
            <a:ext cx="82296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Ablation</a:t>
            </a:r>
            <a:r>
              <a:rPr/>
              <a:t> </a:t>
            </a:r>
            <a:r>
              <a:rPr/>
              <a:t>dell’obiettivo:</a:t>
            </a:r>
            <a:r>
              <a:rPr/>
              <a:t> </a:t>
            </a:r>
            <a:r>
              <a:rPr/>
              <a:t>cosa</a:t>
            </a:r>
            <a:r>
              <a:rPr/>
              <a:t> </a:t>
            </a:r>
            <a:r>
              <a:rPr/>
              <a:t>è</a:t>
            </a:r>
            <a:r>
              <a:rPr/>
              <a:t> </a:t>
            </a:r>
            <a:r>
              <a:rPr/>
              <a:t>migliorato</a:t>
            </a:r>
          </a:p>
        </p:txBody>
      </p:sp>
      <p:pic>
        <p:nvPicPr>
          <p:cNvPr descr="presentation_assets/forecasting_tradeoff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968500"/>
            <a:ext cx="8229600" cy="378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Modelli</a:t>
            </a:r>
            <a:r>
              <a:rPr/>
              <a:t> </a:t>
            </a:r>
            <a:r>
              <a:rPr/>
              <a:t>spaziali:</a:t>
            </a:r>
            <a:r>
              <a:rPr/>
              <a:t> </a:t>
            </a:r>
            <a:r>
              <a:rPr/>
              <a:t>PCA-256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spazio</a:t>
            </a:r>
            <a:r>
              <a:rPr/>
              <a:t> </a:t>
            </a:r>
            <a:r>
              <a:rPr/>
              <a:t>nativo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Dense grid → mean pooling spaziale → 64 token.</a:t>
            </a:r>
          </a:p>
          <a:p>
            <a:pPr lvl="1"/>
            <a:r>
              <a:rPr/>
              <a:t>PCA-256: ricostruzione migliore, ma oracle clinico indebolito.</a:t>
            </a:r>
          </a:p>
          <a:p>
            <a:pPr lvl="1"/>
            <a:r>
              <a:rPr/>
              <a:t>Nativo 864-d: 3 blocchi, 8 head, senza PCA.</a:t>
            </a:r>
          </a:p>
          <a:p>
            <a:pPr lvl="1"/>
            <a:r>
              <a:rPr/>
              <a:t>Il modello nativo riduce la token-MSE del </a:t>
            </a:r>
            <a:r>
              <a:rPr b="1"/>
              <a:t>6,6%</a:t>
            </a:r>
            <a:r>
              <a:rPr/>
              <a:t> vs identità, ma la prognosi resta ≈ MLP pooled.</a:t>
            </a:r>
          </a:p>
          <a:p>
            <a:pPr lvl="1"/>
            <a:r>
              <a:rPr/>
              <a:t>AUROC 1y/2y/3y: pooled MLP </a:t>
            </a:r>
            <a:r>
              <a:rPr b="1"/>
              <a:t>0,717/0,667/0,654</a:t>
            </a:r>
            <a:r>
              <a:rPr/>
              <a:t>; nativo </a:t>
            </a:r>
            <a:r>
              <a:rPr b="1"/>
              <a:t>0,716/0,668/0,652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Diagnostica</a:t>
            </a:r>
            <a:r>
              <a:rPr/>
              <a:t> </a:t>
            </a:r>
            <a:r>
              <a:rPr/>
              <a:t>futura</a:t>
            </a:r>
            <a:r>
              <a:rPr/>
              <a:t> </a:t>
            </a:r>
            <a:r>
              <a:rPr/>
              <a:t>stretta</a:t>
            </a:r>
          </a:p>
        </p:txBody>
      </p:sp>
      <p:pic>
        <p:nvPicPr>
          <p:cNvPr descr="presentation_assets/strict_future_diagnostic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930400"/>
            <a:ext cx="8229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Adapter</a:t>
            </a:r>
            <a:r>
              <a:rPr/>
              <a:t> </a:t>
            </a:r>
            <a:r>
              <a:rPr/>
              <a:t>temporali:</a:t>
            </a:r>
            <a:r>
              <a:rPr/>
              <a:t> </a:t>
            </a:r>
            <a:r>
              <a:rPr/>
              <a:t>risultato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audit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codice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Adapter iniziale: </a:t>
            </a:r>
            <a:r>
              <a:rPr>
                <a:latin typeface="Courier"/>
              </a:rPr>
              <a:t>864 → 256 → 128</a:t>
            </a:r>
            <a:r>
              <a:rPr/>
              <a:t>, predictor residuale nel latent space.</a:t>
            </a:r>
          </a:p>
          <a:p>
            <a:pPr lvl="1"/>
            <a:r>
              <a:rPr/>
              <a:t>Ricostruzione interna molto buona, prognosi inizialmente ≈ chance.</a:t>
            </a:r>
          </a:p>
          <a:p>
            <a:pPr lvl="1"/>
            <a:r>
              <a:rPr/>
              <a:t>Audit: export di training mescolato, label in ordine manifest → </a:t>
            </a:r>
            <a:r>
              <a:rPr b="1"/>
              <a:t>risultati downstream iniziali invalidi</a:t>
            </a:r>
            <a:r>
              <a:rPr/>
              <a:t>.</a:t>
            </a:r>
          </a:p>
          <a:p>
            <a:pPr lvl="1"/>
            <a:r>
              <a:rPr/>
              <a:t>Rivalutazione corretta: bottleneck ancora debole, ma non catastrofico.</a:t>
            </a:r>
          </a:p>
          <a:p>
            <a:pPr lvl="1"/>
            <a:r>
              <a:rPr/>
              <a:t>Tutti i 30 checkpoint originali avevano </a:t>
            </a:r>
            <a:r>
              <a:rPr b="1"/>
              <a:t>SIGReg disabilitato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Adapter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preservazione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SIGReg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Adapter residuale 864-d inizializzato all’identità.</a:t>
            </a:r>
          </a:p>
          <a:p>
            <a:pPr lvl="1"/>
            <a:r>
              <a:rPr/>
              <a:t>Due fasi: preservazione, poi transizione con adapter congelato.</a:t>
            </a:r>
          </a:p>
          <a:p>
            <a:pPr lvl="1"/>
            <a:r>
              <a:rPr/>
              <a:t>Bottleneck 256/512 e SIGReg con probe matched.</a:t>
            </a:r>
          </a:p>
          <a:p>
            <a:pPr lvl="1"/>
            <a:r>
              <a:rPr/>
              <a:t>Il residuale preserva quasi esattamente la prognosi corrente.</a:t>
            </a:r>
          </a:p>
          <a:p>
            <a:pPr lvl="1"/>
            <a:r>
              <a:rPr/>
              <a:t>SIGReg non produce un guadagno stabile; i bottleneck perdono o non aggiungono informazione.</a:t>
            </a:r>
          </a:p>
          <a:p>
            <a:pPr lvl="1"/>
            <a:r>
              <a:rPr/>
              <a:t>Predetto nativo/residuale/SIGReg: risultati quasi sovrapposti (</a:t>
            </a:r>
            <a:r>
              <a:rPr b="1"/>
              <a:t>~0,72 / 0,66 / 0,65</a:t>
            </a:r>
            <a:r>
              <a:rPr/>
              <a:t>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Supervisione</a:t>
            </a:r>
            <a:r>
              <a:rPr/>
              <a:t> </a:t>
            </a:r>
            <a:r>
              <a:rPr/>
              <a:t>prognostica</a:t>
            </a:r>
            <a:r>
              <a:rPr/>
              <a:t> </a:t>
            </a:r>
            <a:r>
              <a:rPr/>
              <a:t>sull’adapter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Adapter residuale 864-d con BCE 1/2/3 anni + ricostruzione + anchor.</a:t>
            </a:r>
          </a:p>
          <a:p>
            <a:pPr lvl="1"/>
            <a:r>
              <a:rPr/>
              <a:t>Nessun futuro, delta o round negli input.</a:t>
            </a:r>
          </a:p>
          <a:p>
            <a:pPr lvl="1"/>
            <a:r>
              <a:rPr/>
              <a:t>Test pooled, probe congelato:</a:t>
            </a:r>
          </a:p>
          <a:p>
            <a:pPr lvl="2"/>
            <a:r>
              <a:rPr/>
              <a:t>COLIPRI corrente: </a:t>
            </a:r>
            <a:r>
              <a:rPr b="1"/>
              <a:t>0,715 / 0,654 / 0,640</a:t>
            </a:r>
          </a:p>
          <a:p>
            <a:pPr lvl="2"/>
            <a:r>
              <a:rPr/>
              <a:t>adapter joint: </a:t>
            </a:r>
            <a:r>
              <a:rPr b="1"/>
              <a:t>0,713 / 0,654 / 0,641</a:t>
            </a:r>
          </a:p>
          <a:p>
            <a:pPr lvl="1"/>
            <a:r>
              <a:rPr/>
              <a:t>La testa lineare diretta resta competitiva; nessun vantaggio robusto.</a:t>
            </a:r>
          </a:p>
          <a:p>
            <a:pPr lvl="0" marL="0" indent="0">
              <a:buNone/>
            </a:pPr>
            <a:r>
              <a:rPr b="1"/>
              <a:t>Interpretazione:</a:t>
            </a:r>
            <a:r>
              <a:rPr/>
              <a:t> il limite non si risolve con una piccola deformazione supervisionata dello stesso stato corrente.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</a:t>
            </a:r>
            <a:r>
              <a:rPr/>
              <a:t> </a:t>
            </a:r>
            <a:r>
              <a:rPr/>
              <a:t>storia</a:t>
            </a:r>
            <a:r>
              <a:rPr/>
              <a:t> </a:t>
            </a:r>
            <a:r>
              <a:rPr/>
              <a:t>osservata</a:t>
            </a:r>
            <a:r>
              <a:rPr/>
              <a:t> </a:t>
            </a:r>
            <a:r>
              <a:rPr/>
              <a:t>aiuta</a:t>
            </a:r>
            <a:r>
              <a:rPr/>
              <a:t> </a:t>
            </a:r>
            <a:r>
              <a:rPr/>
              <a:t>davvero?</a:t>
            </a:r>
          </a:p>
        </p:txBody>
      </p:sp>
      <p:pic>
        <p:nvPicPr>
          <p:cNvPr descr="presentation_assets/observed_progress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006600"/>
            <a:ext cx="82296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Audit</a:t>
            </a:r>
            <a:r>
              <a:rPr/>
              <a:t> </a:t>
            </a:r>
            <a:r>
              <a:rPr/>
              <a:t>di</a:t>
            </a:r>
            <a:r>
              <a:rPr/>
              <a:t> </a:t>
            </a:r>
            <a:r>
              <a:rPr/>
              <a:t>allineamento</a:t>
            </a:r>
            <a:r>
              <a:rPr/>
              <a:t> </a:t>
            </a:r>
            <a:r>
              <a:rPr/>
              <a:t>dei</a:t>
            </a:r>
            <a:r>
              <a:rPr/>
              <a:t> </a:t>
            </a:r>
            <a:r>
              <a:rPr/>
              <a:t>token</a:t>
            </a:r>
          </a:p>
        </p:txBody>
      </p:sp>
      <p:pic>
        <p:nvPicPr>
          <p:cNvPr descr="presentation_assets/alignment_audi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00200"/>
            <a:ext cx="8229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Cosa</a:t>
            </a:r>
            <a:r>
              <a:rPr/>
              <a:t> </a:t>
            </a:r>
            <a:r>
              <a:rPr/>
              <a:t>abbiamo</a:t>
            </a:r>
            <a:r>
              <a:rPr/>
              <a:t> </a:t>
            </a:r>
            <a:r>
              <a:rPr/>
              <a:t>imparato</a:t>
            </a:r>
          </a:p>
        </p:txBody>
      </p:sp>
      <p:pic>
        <p:nvPicPr>
          <p:cNvPr descr="presentation_assets/evidence_m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324100"/>
            <a:ext cx="8229600" cy="307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Direzione</a:t>
            </a:r>
            <a:r>
              <a:rPr/>
              <a:t> </a:t>
            </a:r>
            <a:r>
              <a:rPr/>
              <a:t>più</a:t>
            </a:r>
            <a:r>
              <a:rPr/>
              <a:t> </a:t>
            </a:r>
            <a:r>
              <a:rPr/>
              <a:t>promettente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Riformulare il target clinico-temporale</a:t>
            </a:r>
          </a:p>
          <a:p>
            <a:pPr lvl="2"/>
            <a:r>
              <a:rPr/>
              <a:t>landmark a T1 con outcome dopo T1; lag minimo dalla diagnosi;</a:t>
            </a:r>
          </a:p>
          <a:p>
            <a:pPr lvl="2"/>
            <a:r>
              <a:rPr/>
              <a:t>coorte non pooled per round o sampling bilanciato per transizione.</a:t>
            </a:r>
          </a:p>
          <a:p>
            <a:pPr lvl="1">
              <a:buAutoNum type="arabicPeriod"/>
            </a:pPr>
            <a:r>
              <a:rPr b="1"/>
              <a:t>Rappresentazione locale/lesion-aware</a:t>
            </a:r>
          </a:p>
          <a:p>
            <a:pPr lvl="2"/>
            <a:r>
              <a:rPr/>
              <a:t>token a risoluzione più fine, candidate region/nodule tokens;</a:t>
            </a:r>
          </a:p>
          <a:p>
            <a:pPr lvl="2"/>
            <a:r>
              <a:rPr/>
              <a:t>global state + top-k cambiamenti focali.</a:t>
            </a:r>
          </a:p>
          <a:p>
            <a:pPr lvl="1">
              <a:buAutoNum type="arabicPeriod"/>
            </a:pPr>
            <a:r>
              <a:rPr b="1"/>
              <a:t>Obiettivo discriminativo controllato</a:t>
            </a:r>
          </a:p>
          <a:p>
            <a:pPr lvl="2"/>
            <a:r>
              <a:rPr/>
              <a:t>contrastive/ranking su progressori vs non-progressori;</a:t>
            </a:r>
          </a:p>
          <a:p>
            <a:pPr lvl="2"/>
            <a:r>
              <a:rPr/>
              <a:t>preservazione diagnostica/prognostica solo su train, con oracle gap monitorato.</a:t>
            </a:r>
          </a:p>
          <a:p>
            <a:pPr lvl="1">
              <a:buAutoNum type="arabicPeriod"/>
            </a:pPr>
            <a:r>
              <a:rPr b="1"/>
              <a:t>Validazione indipendente</a:t>
            </a:r>
            <a:r>
              <a:rPr/>
              <a:t> prima di aumentare la scala del modello.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Prossimo</a:t>
            </a:r>
            <a:r>
              <a:rPr/>
              <a:t> </a:t>
            </a:r>
            <a:r>
              <a:rPr/>
              <a:t>esperimento</a:t>
            </a:r>
            <a:r>
              <a:rPr/>
              <a:t> </a:t>
            </a:r>
            <a:r>
              <a:rPr/>
              <a:t>minimo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informativo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Studio lesion-aware con controllo matched</a:t>
            </a:r>
          </a:p>
          <a:p>
            <a:pPr lvl="1"/>
            <a:r>
              <a:rPr/>
              <a:t>Input: COLIPRI globale + token locali ad alta risoluzione da T0/T1.</a:t>
            </a:r>
          </a:p>
          <a:p>
            <a:pPr lvl="1"/>
            <a:r>
              <a:rPr/>
              <a:t>Target: rischio post-T1, con esclusione/stratificazione per diagnosi entro 90–180 giorni.</a:t>
            </a:r>
          </a:p>
          <a:p>
            <a:pPr lvl="1"/>
            <a:r>
              <a:rPr/>
              <a:t>Modelli: current-only vs current+storia, stessa capacità.</a:t>
            </a:r>
          </a:p>
          <a:p>
            <a:pPr lvl="1"/>
            <a:r>
              <a:rPr/>
              <a:t>Nessuna previsione completa dell’embedding nella prima fase.</a:t>
            </a:r>
          </a:p>
          <a:p>
            <a:pPr lvl="1"/>
            <a:r>
              <a:rPr/>
              <a:t>Output: AUROC/AUPRC, bootstrap per paziente, performance per round e lag.</a:t>
            </a:r>
          </a:p>
          <a:p>
            <a:pPr lvl="0" marL="0" indent="0">
              <a:buNone/>
            </a:pPr>
            <a:r>
              <a:rPr/>
              <a:t>Decisione richiesta: investire prima nel </a:t>
            </a:r>
            <a:r>
              <a:rPr b="1"/>
              <a:t>target e nella localizzazione</a:t>
            </a:r>
            <a:r>
              <a:rPr/>
              <a:t>, non nella profondità del world model.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Limiti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mantenere</a:t>
            </a:r>
            <a:r>
              <a:rPr/>
              <a:t> </a:t>
            </a:r>
            <a:r>
              <a:rPr/>
              <a:t>visibili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Coorte case-control arricchita; probabilità non interpretabili come rischio assoluto.</a:t>
            </a:r>
          </a:p>
          <a:p>
            <a:pPr lvl="1"/>
            <a:r>
              <a:rPr/>
              <a:t>Test riutilizzato durante lo sviluppo; risultati non esterni.</a:t>
            </a:r>
          </a:p>
          <a:p>
            <a:pPr lvl="1"/>
            <a:r>
              <a:rPr/>
              <a:t>Possibile overlap NLST con il pretraining di TANGERINE/COLIPRI.</a:t>
            </a:r>
          </a:p>
          <a:p>
            <a:pPr lvl="1"/>
            <a:r>
              <a:rPr/>
              <a:t>Label diagnostiche read-level, non segmentazioni.</a:t>
            </a:r>
          </a:p>
          <a:p>
            <a:pPr lvl="1"/>
            <a:r>
              <a:rPr/>
              <a:t>~2.000 coppie; solo 2 positivi T0→T1 nel test 1y.</a:t>
            </a:r>
          </a:p>
          <a:p>
            <a:pPr lvl="1"/>
            <a:r>
              <a:rPr/>
              <a:t>Differenze spesso piccole rispetto all’incertezza campionaria.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/>
              <a:t>Abbiamo trovato un buon spazio clinico e un forte oracle futuro; non abbiamo ancora trovato una dinamica prevedibile che trasferisca quel vantaggio al presente.</a:t>
            </a:r>
          </a:p>
          <a:p>
            <a:pPr lvl="1"/>
            <a:r>
              <a:rPr/>
              <a:t>La persistenza è un baseline difficile da battere.</a:t>
            </a:r>
          </a:p>
          <a:p>
            <a:pPr lvl="1"/>
            <a:r>
              <a:rPr/>
              <a:t>Il delta medio è prevedibile, il delta prognostico molto meno.</a:t>
            </a:r>
          </a:p>
          <a:p>
            <a:pPr lvl="1"/>
            <a:r>
              <a:rPr/>
              <a:t>Più capacità non è ancora la risposta supportata dai dati.</a:t>
            </a:r>
          </a:p>
          <a:p>
            <a:pPr lvl="1"/>
            <a:r>
              <a:rPr/>
              <a:t>Prossimo salto: </a:t>
            </a:r>
            <a:r>
              <a:rPr b="1"/>
              <a:t>localizzazione, endpoint e segnale clinicamente mirato</a:t>
            </a:r>
            <a:r>
              <a:rPr/>
              <a:t>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riepilogo</a:t>
            </a:r>
            <a:r>
              <a:rPr/>
              <a:t> </a:t>
            </a:r>
            <a:r>
              <a:rPr/>
              <a:t>numerico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Esperimento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Risultato</a:t>
                      </a:r>
                      <a:r>
                        <a:rPr/>
                        <a:t> </a:t>
                      </a:r>
                      <a:r>
                        <a:rPr/>
                        <a:t>principale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COLIPRI</a:t>
                      </a:r>
                      <a:r>
                        <a:rPr/>
                        <a:t> </a:t>
                      </a:r>
                      <a:r>
                        <a:rPr/>
                        <a:t>diagnostica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AUROC</a:t>
                      </a:r>
                      <a:r>
                        <a:rPr/>
                        <a:t> </a:t>
                      </a:r>
                      <a:r>
                        <a:rPr/>
                        <a:t>0,795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0,788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0,752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0,679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Futuro</a:t>
                      </a:r>
                      <a:r>
                        <a:rPr/>
                        <a:t> </a:t>
                      </a:r>
                      <a:r>
                        <a:rPr/>
                        <a:t>reale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corrente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1y:</a:t>
                      </a:r>
                      <a:r>
                        <a:rPr/>
                        <a:t> </a:t>
                      </a:r>
                      <a:r>
                        <a:rPr/>
                        <a:t>0,870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0,715;</a:t>
                      </a:r>
                      <a:r>
                        <a:rPr/>
                        <a:t> </a:t>
                      </a:r>
                      <a:r>
                        <a:rPr/>
                        <a:t>2y:</a:t>
                      </a:r>
                      <a:r>
                        <a:rPr/>
                        <a:t> </a:t>
                      </a:r>
                      <a:r>
                        <a:rPr/>
                        <a:t>0,742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0,654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Delta</a:t>
                      </a:r>
                      <a:r>
                        <a:rPr/>
                        <a:t> </a:t>
                      </a:r>
                      <a:r>
                        <a:rPr/>
                        <a:t>standardizzato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MSE</a:t>
                      </a:r>
                      <a:r>
                        <a:rPr/>
                        <a:t> </a:t>
                      </a:r>
                      <a:r>
                        <a:rPr/>
                        <a:t>−8,4%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identità;</a:t>
                      </a:r>
                      <a:r>
                        <a:rPr/>
                        <a:t> </a:t>
                      </a:r>
                      <a:r>
                        <a:rPr/>
                        <a:t>AUROC</a:t>
                      </a:r>
                      <a:r>
                        <a:rPr/>
                        <a:t> </a:t>
                      </a:r>
                      <a:r>
                        <a:rPr/>
                        <a:t>+0,005/+0,012/+0,013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Transformer</a:t>
                      </a:r>
                      <a:r>
                        <a:rPr/>
                        <a:t> </a:t>
                      </a:r>
                      <a:r>
                        <a:rPr/>
                        <a:t>spaziale</a:t>
                      </a:r>
                      <a:r>
                        <a:rPr/>
                        <a:t> </a:t>
                      </a:r>
                      <a:r>
                        <a:rPr/>
                        <a:t>nativo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token-MSE</a:t>
                      </a:r>
                      <a:r>
                        <a:rPr/>
                        <a:t> </a:t>
                      </a:r>
                      <a:r>
                        <a:rPr/>
                        <a:t>−6,6%;</a:t>
                      </a:r>
                      <a:r>
                        <a:rPr/>
                        <a:t> </a:t>
                      </a:r>
                      <a:r>
                        <a:rPr/>
                        <a:t>prognosi</a:t>
                      </a:r>
                      <a:r>
                        <a:rPr/>
                        <a:t> </a:t>
                      </a:r>
                      <a:r>
                        <a:rPr/>
                        <a:t>≈</a:t>
                      </a:r>
                      <a:r>
                        <a:rPr/>
                        <a:t> </a:t>
                      </a:r>
                      <a:r>
                        <a:rPr/>
                        <a:t>pooled</a:t>
                      </a:r>
                      <a:r>
                        <a:rPr/>
                        <a:t> </a:t>
                      </a:r>
                      <a:r>
                        <a:rPr/>
                        <a:t>MLP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Adapter</a:t>
                      </a:r>
                      <a:r>
                        <a:rPr/>
                        <a:t> </a:t>
                      </a:r>
                      <a:r>
                        <a:rPr/>
                        <a:t>residuale/SIGReg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preserva,</a:t>
                      </a:r>
                      <a:r>
                        <a:rPr/>
                        <a:t> </a:t>
                      </a:r>
                      <a:r>
                        <a:rPr/>
                        <a:t>non</a:t>
                      </a:r>
                      <a:r>
                        <a:rPr/>
                        <a:t> </a:t>
                      </a:r>
                      <a:r>
                        <a:rPr/>
                        <a:t>migliora</a:t>
                      </a:r>
                      <a:r>
                        <a:rPr/>
                        <a:t> </a:t>
                      </a:r>
                      <a:r>
                        <a:rPr/>
                        <a:t>stabilmente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Storia</a:t>
                      </a:r>
                      <a:r>
                        <a:rPr/>
                        <a:t> </a:t>
                      </a:r>
                      <a:r>
                        <a:rPr/>
                        <a:t>T0→T1</a:t>
                      </a:r>
                      <a:r>
                        <a:rPr/>
                        <a:t> </a:t>
                      </a:r>
                      <a:r>
                        <a:rPr/>
                        <a:t>osservata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nessun</a:t>
                      </a:r>
                      <a:r>
                        <a:rPr/>
                        <a:t> </a:t>
                      </a:r>
                      <a:r>
                        <a:rPr/>
                        <a:t>vantaggio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current-only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Audit</a:t>
                      </a:r>
                      <a:r>
                        <a:rPr/>
                        <a:t> </a:t>
                      </a:r>
                      <a:r>
                        <a:rPr/>
                        <a:t>allineamento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forte</a:t>
                      </a:r>
                      <a:r>
                        <a:rPr/>
                        <a:t> </a:t>
                      </a:r>
                      <a:r>
                        <a:rPr/>
                        <a:t>corrispondenza;</a:t>
                      </a:r>
                      <a:r>
                        <a:rPr/>
                        <a:t> </a:t>
                      </a:r>
                      <a:r>
                        <a:rPr/>
                        <a:t>non</a:t>
                      </a:r>
                      <a:r>
                        <a:rPr/>
                        <a:t> </a:t>
                      </a:r>
                      <a:r>
                        <a:rPr/>
                        <a:t>è</a:t>
                      </a:r>
                      <a:r>
                        <a:rPr/>
                        <a:t> </a:t>
                      </a:r>
                      <a:r>
                        <a:rPr/>
                        <a:t>il</a:t>
                      </a:r>
                      <a:r>
                        <a:rPr/>
                        <a:t> </a:t>
                      </a:r>
                      <a:r>
                        <a:rPr/>
                        <a:t>bottleneck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tracciabilità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riproducibilità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PyTorch Lightning, W&amp;B, checkpoint per seed.</a:t>
            </a:r>
          </a:p>
          <a:p>
            <a:pPr lvl="1"/>
            <a:r>
              <a:rPr/>
              <a:t>Manifest con patient/pair IDs e fingerprint degli input.</a:t>
            </a:r>
          </a:p>
          <a:p>
            <a:pPr lvl="1"/>
            <a:r>
              <a:rPr/>
              <a:t>Predizioni ed embedding esportati per seed, senza media primaria.</a:t>
            </a:r>
          </a:p>
          <a:p>
            <a:pPr lvl="1"/>
            <a:r>
              <a:rPr/>
              <a:t>Scaler, PCA e statistiche dei delta salvati e fit train-only.</a:t>
            </a:r>
          </a:p>
          <a:p>
            <a:pPr lvl="1"/>
            <a:r>
              <a:rPr/>
              <a:t>Smoke test GPU e controlli di shape/ordine prima dei run completi.</a:t>
            </a:r>
          </a:p>
          <a:p>
            <a:pPr lvl="1"/>
            <a:r>
              <a:rPr/>
              <a:t>Report completi in </a:t>
            </a:r>
            <a:r>
              <a:rPr>
                <a:latin typeface="Courier"/>
              </a:rPr>
              <a:t>docs/</a:t>
            </a:r>
            <a:r>
              <a:rPr/>
              <a:t>; risultati macchina in </a:t>
            </a:r>
            <a:r>
              <a:rPr>
                <a:latin typeface="Courier"/>
              </a:rPr>
              <a:t>outputs/</a:t>
            </a:r>
            <a:r>
              <a:rPr/>
              <a:t>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documenti</a:t>
            </a:r>
            <a:r>
              <a:rPr/>
              <a:t> </a:t>
            </a:r>
            <a:r>
              <a:rPr/>
              <a:t>sorgente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Dataset e label: </a:t>
            </a:r>
            <a:r>
              <a:rPr>
                <a:latin typeface="Courier"/>
              </a:rPr>
              <a:t>docs/nlst_*dataset_report.md</a:t>
            </a:r>
            <a:r>
              <a:rPr/>
              <a:t>, </a:t>
            </a:r>
            <a:r>
              <a:rPr>
                <a:latin typeface="Courier"/>
              </a:rPr>
              <a:t>docs/nlst_prognostic_labels_report.md</a:t>
            </a:r>
          </a:p>
          <a:p>
            <a:pPr lvl="1"/>
            <a:r>
              <a:rPr/>
              <a:t>Foundation model: </a:t>
            </a:r>
            <a:r>
              <a:rPr>
                <a:latin typeface="Courier"/>
              </a:rPr>
              <a:t>docs/nlst_*decodability_report.md</a:t>
            </a:r>
          </a:p>
          <a:p>
            <a:pPr lvl="1"/>
            <a:r>
              <a:rPr/>
              <a:t>Oracle futuro: </a:t>
            </a:r>
            <a:r>
              <a:rPr>
                <a:latin typeface="Courier"/>
              </a:rPr>
              <a:t>docs/nlst_colipri_future_state_prognosis_report.md</a:t>
            </a:r>
          </a:p>
          <a:p>
            <a:pPr lvl="1"/>
            <a:r>
              <a:rPr/>
              <a:t>World model: </a:t>
            </a:r>
            <a:r>
              <a:rPr>
                <a:latin typeface="Courier"/>
              </a:rPr>
              <a:t>docs/nlst_colipri_*world_model*_report.md</a:t>
            </a:r>
          </a:p>
          <a:p>
            <a:pPr lvl="1"/>
            <a:r>
              <a:rPr/>
              <a:t>Adapter: </a:t>
            </a:r>
            <a:r>
              <a:rPr>
                <a:latin typeface="Courier"/>
              </a:rPr>
              <a:t>outputs/colipri_*adapter/RESULTS.md</a:t>
            </a:r>
          </a:p>
          <a:p>
            <a:pPr lvl="1"/>
            <a:r>
              <a:rPr/>
              <a:t>Progressione: </a:t>
            </a:r>
            <a:r>
              <a:rPr>
                <a:latin typeface="Courier"/>
              </a:rPr>
              <a:t>outputs/colipri_*progression*/RESULTS.md</a:t>
            </a:r>
          </a:p>
          <a:p>
            <a:pPr lvl="1"/>
            <a:r>
              <a:rPr/>
              <a:t>Allineamento: </a:t>
            </a:r>
            <a:r>
              <a:rPr>
                <a:latin typeface="Courier"/>
              </a:rPr>
              <a:t>docs/nlst_colipri_token_alignment_audit_report.md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 CT longitudinale al futuro latente</dc:title>
  <dc:creator>Riunione di progetto</dc:creator>
  <cp:keywords/>
  <dcterms:created xsi:type="dcterms:W3CDTF">2026-09-22T12:31:48Z</dcterms:created>
  <dcterms:modified xsi:type="dcterms:W3CDTF">2026-09-22T12:31:48Z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>23 settembre 2026</vt:lpwstr>
  </property>
  <property fmtid="{D5CDD505-2E9C-101B-9397-08002B2CF9AE}" pid="4" name="subtitle">
    <vt:lpwstr>Dataset NLST, foundation model, prognosi e world model COLIPRI</vt:lpwstr>
  </property>
</Properties>
</file>